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320" y="3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38354" y="2107785"/>
            <a:ext cx="10347649" cy="1863324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4400" b="1">
                <a:solidFill>
                  <a:srgbClr val="EDF0F5"/>
                </a:solidFill>
                <a:latin typeface="Segoe UI"/>
              </a:defRPr>
            </a:pPr>
            <a:r>
              <a:rPr lang="en-US" dirty="0"/>
              <a:t>BÁO CÁO TỔNG KẾT THỰC TẬP</a:t>
            </a:r>
            <a:br>
              <a:rPr lang="en-US" dirty="0"/>
            </a:br>
            <a:r>
              <a:rPr lang="en-US" dirty="0"/>
              <a:t>HỆ THỐNG NHẬN DIỆN KHUÔN MẶT</a:t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760220" y="4576665"/>
            <a:ext cx="85039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50000"/>
              </a:lnSpc>
              <a:defRPr sz="1800" b="0">
                <a:solidFill>
                  <a:srgbClr val="6B7A8D"/>
                </a:solidFill>
                <a:latin typeface="Segoe UI"/>
              </a:defRPr>
            </a:pPr>
            <a:r>
              <a:rPr dirty="0">
                <a:solidFill>
                  <a:schemeClr val="bg1"/>
                </a:solidFill>
              </a:rPr>
              <a:t>YOLO26 + </a:t>
            </a:r>
            <a:r>
              <a:rPr dirty="0" err="1">
                <a:solidFill>
                  <a:schemeClr val="bg1"/>
                </a:solidFill>
              </a:rPr>
              <a:t>ArcFace</a:t>
            </a:r>
            <a:r>
              <a:rPr dirty="0">
                <a:solidFill>
                  <a:schemeClr val="bg1"/>
                </a:solidFill>
              </a:rPr>
              <a:t>  ·  2 Camera Check-in/Check-out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PLC </a:t>
            </a:r>
            <a:r>
              <a:rPr dirty="0" err="1">
                <a:solidFill>
                  <a:schemeClr val="bg1"/>
                </a:solidFill>
              </a:rPr>
              <a:t>đèn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tháp</a:t>
            </a:r>
            <a:r>
              <a:rPr dirty="0">
                <a:solidFill>
                  <a:schemeClr val="bg1"/>
                </a:solidFill>
              </a:rPr>
              <a:t>  ·  </a:t>
            </a:r>
            <a:r>
              <a:rPr dirty="0" err="1">
                <a:solidFill>
                  <a:schemeClr val="bg1"/>
                </a:solidFill>
              </a:rPr>
              <a:t>Xuất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nhật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ký</a:t>
            </a:r>
            <a:r>
              <a:rPr dirty="0">
                <a:solidFill>
                  <a:schemeClr val="bg1"/>
                </a:solidFill>
              </a:rPr>
              <a:t> Excel </a:t>
            </a:r>
            <a:r>
              <a:rPr dirty="0" err="1">
                <a:solidFill>
                  <a:schemeClr val="bg1"/>
                </a:solidFill>
              </a:rPr>
              <a:t>tự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động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60219" y="6096621"/>
            <a:ext cx="8503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300" b="0">
                <a:solidFill>
                  <a:srgbClr val="6B7A8D"/>
                </a:solidFill>
                <a:latin typeface="Consolas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Python ·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PyTorch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· OpenCV · ONNX Runtime ·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FastAPI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·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pymcprotocol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8" name="Picture 7" descr="Login | Woodsland 20">
            <a:extLst>
              <a:ext uri="{FF2B5EF4-FFF2-40B4-BE49-F238E27FC236}">
                <a16:creationId xmlns:a16="http://schemas.microsoft.com/office/drawing/2014/main" id="{DF70018D-DD84-A71B-9A5F-E62F9C620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28153" cy="11395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1">
                <a:solidFill>
                  <a:srgbClr val="4FC3F7"/>
                </a:solidFill>
                <a:latin typeface="Consolas"/>
              </a:defRPr>
            </a:pPr>
            <a:r>
              <a:t>01 — NỘI DUNG CHÍNH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3000" b="1">
                <a:solidFill>
                  <a:srgbClr val="EDF0F5"/>
                </a:solidFill>
                <a:latin typeface="Segoe UI"/>
              </a:defRPr>
            </a:pPr>
            <a:r>
              <a:t>Bài toán kỹ thuật &amp; Hướng giải quyết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19"/>
            <a:ext cx="5029200" cy="4669971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800" b="1">
                <a:solidFill>
                  <a:srgbClr val="E53935"/>
                </a:solidFill>
                <a:latin typeface="Segoe UI"/>
              </a:defRPr>
            </a:pPr>
            <a:r>
              <a:rPr dirty="0" err="1"/>
              <a:t>Bài</a:t>
            </a:r>
            <a:r>
              <a:rPr dirty="0"/>
              <a:t> </a:t>
            </a:r>
            <a:r>
              <a:rPr dirty="0" err="1"/>
              <a:t>toán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05840" y="2368115"/>
            <a:ext cx="4572000" cy="2707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phải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 tin </a:t>
            </a:r>
            <a:r>
              <a:rPr dirty="0" err="1"/>
              <a:t>cậy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kích</a:t>
            </a:r>
            <a:r>
              <a:rPr dirty="0"/>
              <a:t>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thiết</a:t>
            </a:r>
            <a:r>
              <a:rPr dirty="0"/>
              <a:t> </a:t>
            </a:r>
            <a:r>
              <a:rPr dirty="0" err="1"/>
              <a:t>bị</a:t>
            </a:r>
            <a:r>
              <a:rPr dirty="0"/>
              <a:t> </a:t>
            </a:r>
            <a:r>
              <a:rPr dirty="0" err="1"/>
              <a:t>vật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mà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giám</a:t>
            </a:r>
            <a:r>
              <a:rPr dirty="0"/>
              <a:t> </a:t>
            </a:r>
            <a:r>
              <a:rPr dirty="0" err="1"/>
              <a:t>sát</a:t>
            </a:r>
            <a:r>
              <a:rPr dirty="0"/>
              <a:t> </a:t>
            </a:r>
            <a:r>
              <a:rPr dirty="0" err="1"/>
              <a:t>màn</a:t>
            </a:r>
            <a:r>
              <a:rPr dirty="0"/>
              <a:t> </a:t>
            </a:r>
            <a:r>
              <a:rPr dirty="0" err="1"/>
              <a:t>hình</a:t>
            </a:r>
            <a:endParaRPr dirty="0"/>
          </a:p>
          <a:p>
            <a:pPr>
              <a:lnSpc>
                <a:spcPct val="145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/>
              <a:t> 2 camera </a:t>
            </a:r>
            <a:r>
              <a:rPr dirty="0" err="1"/>
              <a:t>khác</a:t>
            </a:r>
            <a:r>
              <a:rPr dirty="0"/>
              <a:t> </a:t>
            </a:r>
            <a:r>
              <a:rPr dirty="0" err="1"/>
              <a:t>hãng</a:t>
            </a:r>
            <a:r>
              <a:rPr dirty="0"/>
              <a:t>, </a:t>
            </a:r>
            <a:r>
              <a:rPr dirty="0" err="1"/>
              <a:t>khác</a:t>
            </a:r>
            <a:r>
              <a:rPr dirty="0"/>
              <a:t> </a:t>
            </a:r>
            <a:r>
              <a:rPr dirty="0" err="1"/>
              <a:t>chất</a:t>
            </a:r>
            <a:r>
              <a:rPr dirty="0"/>
              <a:t> </a:t>
            </a:r>
            <a:r>
              <a:rPr dirty="0" err="1"/>
              <a:t>lượng</a:t>
            </a:r>
            <a:r>
              <a:rPr dirty="0"/>
              <a:t> (</a:t>
            </a:r>
            <a:r>
              <a:rPr dirty="0" err="1"/>
              <a:t>UGreen</a:t>
            </a:r>
            <a:r>
              <a:rPr dirty="0"/>
              <a:t> 2K </a:t>
            </a:r>
            <a:r>
              <a:rPr dirty="0" err="1"/>
              <a:t>có</a:t>
            </a:r>
            <a:r>
              <a:rPr dirty="0"/>
              <a:t> AF+HDR vs </a:t>
            </a:r>
            <a:r>
              <a:rPr dirty="0" err="1"/>
              <a:t>Rapoo</a:t>
            </a:r>
            <a:r>
              <a:rPr dirty="0"/>
              <a:t> C260 fixed-focus, </a:t>
            </a:r>
            <a:r>
              <a:rPr dirty="0" err="1"/>
              <a:t>không</a:t>
            </a:r>
            <a:r>
              <a:rPr dirty="0"/>
              <a:t> HDR) — </a:t>
            </a:r>
            <a:r>
              <a:rPr dirty="0" err="1"/>
              <a:t>cùng</a:t>
            </a:r>
            <a:r>
              <a:rPr dirty="0"/>
              <a:t> 1 </a:t>
            </a:r>
            <a:r>
              <a:rPr dirty="0" err="1"/>
              <a:t>ngưỡng</a:t>
            </a:r>
            <a:r>
              <a:rPr dirty="0"/>
              <a:t> </a:t>
            </a:r>
            <a:r>
              <a:rPr dirty="0" err="1"/>
              <a:t>sẽ</a:t>
            </a:r>
            <a:r>
              <a:rPr dirty="0"/>
              <a:t> </a:t>
            </a:r>
            <a:r>
              <a:rPr dirty="0" err="1"/>
              <a:t>cho</a:t>
            </a:r>
            <a:r>
              <a:rPr dirty="0"/>
              <a:t> </a:t>
            </a:r>
            <a:r>
              <a:rPr dirty="0" err="1"/>
              <a:t>tỷ</a:t>
            </a:r>
            <a:r>
              <a:rPr dirty="0"/>
              <a:t> </a:t>
            </a:r>
            <a:r>
              <a:rPr dirty="0" err="1"/>
              <a:t>lệ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nhầm</a:t>
            </a:r>
            <a:r>
              <a:rPr dirty="0"/>
              <a:t> </a:t>
            </a:r>
            <a:r>
              <a:rPr dirty="0" err="1"/>
              <a:t>chênh</a:t>
            </a:r>
            <a:r>
              <a:rPr dirty="0"/>
              <a:t> </a:t>
            </a:r>
            <a:r>
              <a:rPr dirty="0" err="1"/>
              <a:t>lệch</a:t>
            </a:r>
            <a:r>
              <a:rPr dirty="0"/>
              <a:t> </a:t>
            </a:r>
            <a:r>
              <a:rPr dirty="0" err="1"/>
              <a:t>rõ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2 cam</a:t>
            </a:r>
          </a:p>
          <a:p>
            <a:pPr>
              <a:lnSpc>
                <a:spcPct val="145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Nhân</a:t>
            </a:r>
            <a:r>
              <a:rPr dirty="0"/>
              <a:t> </a:t>
            </a:r>
            <a:r>
              <a:rPr dirty="0" err="1"/>
              <a:t>sự</a:t>
            </a:r>
            <a:r>
              <a:rPr dirty="0"/>
              <a:t> </a:t>
            </a:r>
            <a:r>
              <a:rPr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-&gt;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thể</a:t>
            </a:r>
            <a:r>
              <a:rPr dirty="0"/>
              <a:t> train </a:t>
            </a:r>
            <a:r>
              <a:rPr dirty="0" err="1"/>
              <a:t>lại</a:t>
            </a:r>
            <a:r>
              <a:rPr dirty="0"/>
              <a:t> model </a:t>
            </a:r>
            <a:r>
              <a:rPr dirty="0" err="1"/>
              <a:t>mỗi</a:t>
            </a:r>
            <a:r>
              <a:rPr dirty="0"/>
              <a:t> </a:t>
            </a:r>
            <a:r>
              <a:rPr dirty="0" err="1"/>
              <a:t>lần</a:t>
            </a:r>
            <a:r>
              <a:rPr dirty="0"/>
              <a:t> </a:t>
            </a:r>
            <a:r>
              <a:rPr dirty="0" err="1"/>
              <a:t>thêm</a:t>
            </a:r>
            <a:r>
              <a:rPr dirty="0"/>
              <a:t>/</a:t>
            </a:r>
            <a:r>
              <a:rPr dirty="0" err="1"/>
              <a:t>xoá</a:t>
            </a:r>
            <a:r>
              <a:rPr dirty="0"/>
              <a:t> 1 </a:t>
            </a:r>
            <a:r>
              <a:rPr dirty="0" err="1"/>
              <a:t>người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470916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770486"/>
            <a:ext cx="4572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800" b="1">
                <a:solidFill>
                  <a:srgbClr val="00C853"/>
                </a:solidFill>
                <a:latin typeface="Segoe UI"/>
              </a:defRPr>
            </a:pPr>
            <a:r>
              <a:rPr dirty="0" err="1"/>
              <a:t>Cách</a:t>
            </a:r>
            <a:r>
              <a:rPr dirty="0"/>
              <a:t> </a:t>
            </a:r>
            <a:r>
              <a:rPr dirty="0" err="1"/>
              <a:t>hệ</a:t>
            </a:r>
            <a:r>
              <a:rPr dirty="0"/>
              <a:t> </a:t>
            </a:r>
            <a:r>
              <a:rPr dirty="0" err="1"/>
              <a:t>thống</a:t>
            </a:r>
            <a:r>
              <a:rPr dirty="0"/>
              <a:t> </a:t>
            </a:r>
            <a:r>
              <a:rPr dirty="0" err="1"/>
              <a:t>giải</a:t>
            </a:r>
            <a:r>
              <a:rPr dirty="0"/>
              <a:t> </a:t>
            </a:r>
            <a:r>
              <a:rPr dirty="0" err="1"/>
              <a:t>quyết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583680" y="2371847"/>
            <a:ext cx="4572000" cy="3097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/>
              <a:t>YOLO26 </a:t>
            </a:r>
            <a:r>
              <a:rPr dirty="0" err="1"/>
              <a:t>định</a:t>
            </a:r>
            <a:r>
              <a:rPr dirty="0"/>
              <a:t> </a:t>
            </a:r>
            <a:r>
              <a:rPr dirty="0" err="1"/>
              <a:t>vị</a:t>
            </a:r>
            <a:r>
              <a:rPr dirty="0"/>
              <a:t> </a:t>
            </a:r>
            <a:r>
              <a:rPr dirty="0" err="1"/>
              <a:t>mặt</a:t>
            </a:r>
            <a:r>
              <a:rPr dirty="0"/>
              <a:t>, </a:t>
            </a:r>
            <a:r>
              <a:rPr dirty="0" err="1"/>
              <a:t>ArcFace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mới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thêm</a:t>
            </a:r>
            <a:r>
              <a:rPr dirty="0"/>
              <a:t> 1 vector</a:t>
            </a:r>
            <a:endParaRPr lang="en-US" dirty="0"/>
          </a:p>
          <a:p>
            <a:pPr>
              <a:lnSpc>
                <a:spcPct val="145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 err="1"/>
              <a:t>Bù</a:t>
            </a:r>
            <a:r>
              <a:rPr dirty="0"/>
              <a:t> </a:t>
            </a:r>
            <a:r>
              <a:rPr dirty="0" err="1"/>
              <a:t>riêng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camera (</a:t>
            </a:r>
            <a:r>
              <a:rPr dirty="0" err="1"/>
              <a:t>ngưỡng</a:t>
            </a:r>
            <a:r>
              <a:rPr dirty="0"/>
              <a:t>, </a:t>
            </a:r>
            <a:r>
              <a:rPr dirty="0" err="1"/>
              <a:t>tiền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) </a:t>
            </a:r>
            <a:r>
              <a:rPr dirty="0" err="1"/>
              <a:t>tính</a:t>
            </a:r>
            <a:r>
              <a:rPr dirty="0"/>
              <a:t> </a:t>
            </a:r>
            <a:r>
              <a:rPr dirty="0" err="1"/>
              <a:t>từ</a:t>
            </a:r>
            <a:r>
              <a:rPr dirty="0"/>
              <a:t> </a:t>
            </a:r>
            <a:r>
              <a:rPr dirty="0" err="1"/>
              <a:t>chênh</a:t>
            </a:r>
            <a:r>
              <a:rPr dirty="0"/>
              <a:t> </a:t>
            </a:r>
            <a:r>
              <a:rPr dirty="0" err="1"/>
              <a:t>lệch</a:t>
            </a:r>
            <a:r>
              <a:rPr dirty="0"/>
              <a:t> </a:t>
            </a:r>
            <a:r>
              <a:rPr dirty="0" err="1"/>
              <a:t>thông</a:t>
            </a:r>
            <a:r>
              <a:rPr dirty="0"/>
              <a:t>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cứng</a:t>
            </a:r>
            <a:r>
              <a:rPr dirty="0"/>
              <a:t>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đo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chỉnh</a:t>
            </a:r>
            <a:r>
              <a:rPr dirty="0"/>
              <a:t> </a:t>
            </a:r>
            <a:r>
              <a:rPr dirty="0" err="1"/>
              <a:t>tay</a:t>
            </a:r>
            <a:r>
              <a:rPr dirty="0"/>
              <a:t> </a:t>
            </a:r>
            <a:r>
              <a:rPr dirty="0" err="1"/>
              <a:t>cảm</a:t>
            </a:r>
            <a:r>
              <a:rPr dirty="0"/>
              <a:t> </a:t>
            </a:r>
            <a:r>
              <a:rPr dirty="0" err="1"/>
              <a:t>tính</a:t>
            </a:r>
            <a:endParaRPr dirty="0"/>
          </a:p>
          <a:p>
            <a:pPr>
              <a:lnSpc>
                <a:spcPct val="145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</a:t>
            </a:r>
            <a:r>
              <a:rPr dirty="0" err="1"/>
              <a:t>lớp</a:t>
            </a:r>
            <a:r>
              <a:rPr dirty="0"/>
              <a:t> </a:t>
            </a:r>
            <a:r>
              <a:rPr dirty="0" err="1"/>
              <a:t>chống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sai</a:t>
            </a:r>
            <a:r>
              <a:rPr dirty="0"/>
              <a:t> </a:t>
            </a:r>
            <a:r>
              <a:rPr dirty="0" err="1"/>
              <a:t>xếp</a:t>
            </a:r>
            <a:r>
              <a:rPr dirty="0"/>
              <a:t> </a:t>
            </a:r>
            <a:r>
              <a:rPr dirty="0" err="1"/>
              <a:t>chồng</a:t>
            </a:r>
            <a:r>
              <a:rPr dirty="0"/>
              <a:t> </a:t>
            </a:r>
            <a:r>
              <a:rPr dirty="0" err="1"/>
              <a:t>thay</a:t>
            </a:r>
            <a:r>
              <a:rPr dirty="0"/>
              <a:t> </a:t>
            </a:r>
            <a:r>
              <a:rPr dirty="0" err="1"/>
              <a:t>vì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dựa</a:t>
            </a:r>
            <a:r>
              <a:rPr dirty="0"/>
              <a:t> 1 </a:t>
            </a:r>
            <a:r>
              <a:rPr dirty="0" err="1"/>
              <a:t>ngưỡng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lẻ</a:t>
            </a:r>
            <a:endParaRPr dirty="0"/>
          </a:p>
          <a:p>
            <a:pPr>
              <a:lnSpc>
                <a:spcPct val="145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kích</a:t>
            </a:r>
            <a:r>
              <a:rPr dirty="0"/>
              <a:t> </a:t>
            </a:r>
            <a:r>
              <a:rPr dirty="0" err="1"/>
              <a:t>hoạt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PLC → </a:t>
            </a:r>
            <a:r>
              <a:rPr dirty="0" err="1"/>
              <a:t>đèn</a:t>
            </a:r>
            <a:r>
              <a:rPr dirty="0"/>
              <a:t> </a:t>
            </a:r>
            <a:r>
              <a:rPr dirty="0" err="1"/>
              <a:t>tháp</a:t>
            </a:r>
            <a:r>
              <a:rPr dirty="0"/>
              <a:t> </a:t>
            </a:r>
            <a:r>
              <a:rPr dirty="0" err="1"/>
              <a:t>phản</a:t>
            </a:r>
            <a:r>
              <a:rPr dirty="0"/>
              <a:t> </a:t>
            </a:r>
            <a:r>
              <a:rPr dirty="0" err="1"/>
              <a:t>ứng</a:t>
            </a:r>
            <a:r>
              <a:rPr dirty="0"/>
              <a:t> </a:t>
            </a:r>
            <a:r>
              <a:rPr dirty="0" err="1"/>
              <a:t>tức</a:t>
            </a:r>
            <a:r>
              <a:rPr dirty="0"/>
              <a:t> </a:t>
            </a:r>
            <a:r>
              <a:rPr dirty="0" err="1"/>
              <a:t>thời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qua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trung</a:t>
            </a:r>
            <a:r>
              <a:rPr dirty="0"/>
              <a:t> </a:t>
            </a:r>
            <a:r>
              <a:rPr dirty="0" err="1"/>
              <a:t>gian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1">
                <a:solidFill>
                  <a:srgbClr val="4FC3F7"/>
                </a:solidFill>
                <a:latin typeface="Consolas"/>
              </a:defRPr>
            </a:pPr>
            <a:r>
              <a:t>01 — NỘI DUNG CHÍNH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3000" b="1">
                <a:solidFill>
                  <a:srgbClr val="EDF0F5"/>
                </a:solidFill>
                <a:latin typeface="Segoe UI"/>
              </a:defRPr>
            </a:pPr>
            <a:r>
              <a:t>Kiến trúc &amp; luồng xử lý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645920"/>
            <a:ext cx="1325880" cy="64008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" y="1700784"/>
            <a:ext cx="1325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defRPr sz="1100" b="1">
                <a:solidFill>
                  <a:srgbClr val="6B7A8D"/>
                </a:solidFill>
                <a:latin typeface="Segoe UI"/>
              </a:defRPr>
            </a:pPr>
            <a:r>
              <a:t>Camera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755648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2000" b="0">
                <a:solidFill>
                  <a:srgbClr val="6B7A8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645920"/>
            <a:ext cx="1325880" cy="64008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1700784"/>
            <a:ext cx="1325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defRPr sz="1100" b="1">
                <a:solidFill>
                  <a:srgbClr val="4FC3F7"/>
                </a:solidFill>
                <a:latin typeface="Segoe UI"/>
              </a:defRPr>
            </a:pPr>
            <a:r>
              <a:t>YOLO26</a:t>
            </a:r>
            <a:br/>
            <a:r>
              <a:t>Định vị mặt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755648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2000" b="0">
                <a:solidFill>
                  <a:srgbClr val="6B7A8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645920"/>
            <a:ext cx="1325880" cy="64008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700784"/>
            <a:ext cx="1325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defRPr sz="1100" b="1">
                <a:solidFill>
                  <a:srgbClr val="4FC3F7"/>
                </a:solidFill>
                <a:latin typeface="Segoe UI"/>
              </a:defRPr>
            </a:pPr>
            <a:r>
              <a:t>ArcFace</a:t>
            </a:r>
            <a:br/>
            <a:r>
              <a:t>Nhận diện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1755648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2000" b="0">
                <a:solidFill>
                  <a:srgbClr val="6B7A8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645920"/>
            <a:ext cx="1325880" cy="64008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80" y="1700784"/>
            <a:ext cx="1325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defRPr sz="1100" b="1">
                <a:solidFill>
                  <a:srgbClr val="6B7A8D"/>
                </a:solidFill>
                <a:latin typeface="Segoe UI"/>
              </a:defRPr>
            </a:pPr>
            <a:r>
              <a:t>So khớp</a:t>
            </a:r>
            <a:br/>
            <a:r>
              <a:t>với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55648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2000" b="0">
                <a:solidFill>
                  <a:srgbClr val="6B7A8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1645920"/>
            <a:ext cx="1325880" cy="64008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1700784"/>
            <a:ext cx="1325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defRPr sz="1100" b="1">
                <a:solidFill>
                  <a:srgbClr val="6B7A8D"/>
                </a:solidFill>
                <a:latin typeface="Segoe UI"/>
              </a:defRPr>
            </a:pPr>
            <a:r>
              <a:t>Làm mượt</a:t>
            </a:r>
            <a:br/>
            <a:r>
              <a:t>theo thời gian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55648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2000" b="0">
                <a:solidFill>
                  <a:srgbClr val="6B7A8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1645920"/>
            <a:ext cx="1325880" cy="64008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1700784"/>
            <a:ext cx="1325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defRPr sz="1100" b="1">
                <a:solidFill>
                  <a:srgbClr val="00C853"/>
                </a:solidFill>
                <a:latin typeface="Segoe UI"/>
              </a:defRPr>
            </a:pPr>
            <a:r>
              <a:t>Kết quả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755648"/>
            <a:ext cx="274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2000" b="0">
                <a:solidFill>
                  <a:srgbClr val="6B7A8D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1645920"/>
            <a:ext cx="1325880" cy="64008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149840" y="1700784"/>
            <a:ext cx="1325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defRPr sz="1100" b="1">
                <a:solidFill>
                  <a:srgbClr val="FFB300"/>
                </a:solidFill>
                <a:latin typeface="Segoe UI"/>
              </a:defRPr>
            </a:pPr>
            <a:r>
              <a:rPr dirty="0"/>
              <a:t>PLC</a:t>
            </a:r>
            <a:br>
              <a:rPr dirty="0"/>
            </a:b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731520" y="260604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600" b="0">
                <a:solidFill>
                  <a:srgbClr val="6B7A8D"/>
                </a:solidFill>
                <a:latin typeface="Segoe UI"/>
              </a:defRPr>
            </a:pP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Mỗi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camera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chạy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2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luồng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xử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lý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song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song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hoàn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toàn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độc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lập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với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camera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còn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lại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31520" y="3108960"/>
            <a:ext cx="5029200" cy="338328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32461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500" b="1">
                <a:solidFill>
                  <a:srgbClr val="EDF0F5"/>
                </a:solidFill>
                <a:latin typeface="Segoe UI"/>
              </a:defRPr>
            </a:pPr>
            <a:r>
              <a:t>Luồng 1 — Bám khung mặt (~10 khung hình/giây)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" y="3959912"/>
            <a:ext cx="4572000" cy="1341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lang="en-US" dirty="0" err="1"/>
              <a:t>D</a:t>
            </a:r>
            <a:r>
              <a:rPr dirty="0" err="1"/>
              <a:t>ùng</a:t>
            </a:r>
            <a:r>
              <a:rPr dirty="0"/>
              <a:t> YOLO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bám</a:t>
            </a:r>
            <a:r>
              <a:rPr dirty="0"/>
              <a:t> </a:t>
            </a:r>
            <a:r>
              <a:rPr dirty="0" err="1"/>
              <a:t>vị</a:t>
            </a:r>
            <a:r>
              <a:rPr dirty="0"/>
              <a:t> </a:t>
            </a:r>
            <a:r>
              <a:rPr dirty="0" err="1"/>
              <a:t>trí</a:t>
            </a:r>
            <a:r>
              <a:rPr dirty="0"/>
              <a:t> </a:t>
            </a:r>
            <a:r>
              <a:rPr dirty="0" err="1"/>
              <a:t>khung</a:t>
            </a:r>
            <a:r>
              <a:rPr dirty="0"/>
              <a:t> </a:t>
            </a:r>
            <a:r>
              <a:rPr dirty="0" err="1"/>
              <a:t>mặt</a:t>
            </a:r>
            <a:r>
              <a:rPr dirty="0"/>
              <a:t> </a:t>
            </a:r>
            <a:r>
              <a:rPr dirty="0" err="1"/>
              <a:t>mượt</a:t>
            </a:r>
            <a:r>
              <a:rPr dirty="0"/>
              <a:t> </a:t>
            </a:r>
            <a:r>
              <a:rPr dirty="0" err="1"/>
              <a:t>mà</a:t>
            </a:r>
            <a:r>
              <a:rPr dirty="0"/>
              <a:t>,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đoán</a:t>
            </a:r>
            <a:r>
              <a:rPr dirty="0"/>
              <a:t> </a:t>
            </a:r>
            <a:r>
              <a:rPr dirty="0" err="1"/>
              <a:t>tên</a:t>
            </a:r>
            <a:endParaRPr dirty="0"/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dùng</a:t>
            </a:r>
            <a:r>
              <a:rPr dirty="0"/>
              <a:t> </a:t>
            </a:r>
            <a:r>
              <a:rPr dirty="0" err="1"/>
              <a:t>thấy</a:t>
            </a:r>
            <a:r>
              <a:rPr dirty="0"/>
              <a:t> </a:t>
            </a:r>
            <a:r>
              <a:rPr dirty="0" err="1"/>
              <a:t>phản</a:t>
            </a:r>
            <a:r>
              <a:rPr dirty="0"/>
              <a:t> </a:t>
            </a:r>
            <a:r>
              <a:rPr dirty="0" err="1"/>
              <a:t>hồi</a:t>
            </a:r>
            <a:r>
              <a:rPr dirty="0"/>
              <a:t> </a:t>
            </a:r>
            <a:r>
              <a:rPr dirty="0" err="1"/>
              <a:t>tức</a:t>
            </a:r>
            <a:r>
              <a:rPr dirty="0"/>
              <a:t> </a:t>
            </a:r>
            <a:r>
              <a:rPr dirty="0" err="1"/>
              <a:t>thì</a:t>
            </a:r>
            <a:r>
              <a:rPr dirty="0"/>
              <a:t> </a:t>
            </a:r>
            <a:r>
              <a:rPr dirty="0" err="1"/>
              <a:t>dù</a:t>
            </a:r>
            <a:r>
              <a:rPr dirty="0"/>
              <a:t> </a:t>
            </a:r>
            <a:r>
              <a:rPr dirty="0" err="1"/>
              <a:t>bước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chưa</a:t>
            </a:r>
            <a:r>
              <a:rPr dirty="0"/>
              <a:t> </a:t>
            </a:r>
            <a:r>
              <a:rPr dirty="0" err="1"/>
              <a:t>xong</a:t>
            </a:r>
            <a:endParaRPr dirty="0"/>
          </a:p>
        </p:txBody>
      </p:sp>
      <p:sp>
        <p:nvSpPr>
          <p:cNvPr id="28" name="Rectangle 27"/>
          <p:cNvSpPr/>
          <p:nvPr/>
        </p:nvSpPr>
        <p:spPr>
          <a:xfrm>
            <a:off x="6400800" y="3108960"/>
            <a:ext cx="5029200" cy="338328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32461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500" b="1">
                <a:solidFill>
                  <a:srgbClr val="EDF0F5"/>
                </a:solidFill>
                <a:latin typeface="Segoe UI"/>
              </a:defRPr>
            </a:pPr>
            <a:r>
              <a:t>Luồng 2 — Nhận diện thật (~3 khung hình/giây)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657600"/>
            <a:ext cx="4572000" cy="1341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 YOLO + </a:t>
            </a:r>
            <a:r>
              <a:rPr dirty="0" err="1"/>
              <a:t>ArcFace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ra</a:t>
            </a:r>
            <a:r>
              <a:rPr dirty="0"/>
              <a:t> </a:t>
            </a:r>
            <a:r>
              <a:rPr dirty="0" err="1"/>
              <a:t>tên</a:t>
            </a:r>
            <a:r>
              <a:rPr dirty="0"/>
              <a:t> </a:t>
            </a:r>
            <a:r>
              <a:rPr dirty="0" err="1"/>
              <a:t>thật</a:t>
            </a:r>
            <a:r>
              <a:rPr dirty="0"/>
              <a:t>, </a:t>
            </a:r>
            <a:r>
              <a:rPr dirty="0" err="1"/>
              <a:t>cập</a:t>
            </a:r>
            <a:r>
              <a:rPr dirty="0"/>
              <a:t> </a:t>
            </a:r>
            <a:r>
              <a:rPr dirty="0" err="1"/>
              <a:t>nhật</a:t>
            </a:r>
            <a:r>
              <a:rPr dirty="0"/>
              <a:t> </a:t>
            </a:r>
            <a:r>
              <a:rPr dirty="0" err="1"/>
              <a:t>lại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quả</a:t>
            </a:r>
            <a:endParaRPr dirty="0"/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 err="1"/>
              <a:t>Khoảng</a:t>
            </a:r>
            <a:r>
              <a:rPr dirty="0"/>
              <a:t> </a:t>
            </a:r>
            <a:r>
              <a:rPr dirty="0" err="1"/>
              <a:t>cách</a:t>
            </a:r>
            <a:r>
              <a:rPr dirty="0"/>
              <a:t> </a:t>
            </a:r>
            <a:r>
              <a:rPr dirty="0" err="1"/>
              <a:t>giữa</a:t>
            </a:r>
            <a:r>
              <a:rPr dirty="0"/>
              <a:t> 2 </a:t>
            </a:r>
            <a:r>
              <a:rPr dirty="0" err="1"/>
              <a:t>lần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co </a:t>
            </a:r>
            <a:r>
              <a:rPr dirty="0" err="1"/>
              <a:t>giãn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tải</a:t>
            </a:r>
            <a:r>
              <a:rPr dirty="0"/>
              <a:t> </a:t>
            </a:r>
            <a:r>
              <a:rPr dirty="0" err="1"/>
              <a:t>máy</a:t>
            </a:r>
            <a:r>
              <a:rPr dirty="0"/>
              <a:t> </a:t>
            </a:r>
            <a:r>
              <a:rPr lang="en-US" dirty="0"/>
              <a:t>-</a:t>
            </a:r>
            <a:r>
              <a:rPr dirty="0"/>
              <a:t> </a:t>
            </a: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bận</a:t>
            </a:r>
            <a:r>
              <a:rPr dirty="0"/>
              <a:t> </a:t>
            </a:r>
            <a:r>
              <a:rPr dirty="0" err="1"/>
              <a:t>thì</a:t>
            </a:r>
            <a:r>
              <a:rPr dirty="0"/>
              <a:t> </a:t>
            </a:r>
            <a:r>
              <a:rPr dirty="0" err="1"/>
              <a:t>giãn</a:t>
            </a:r>
            <a:r>
              <a:rPr dirty="0"/>
              <a:t> </a:t>
            </a:r>
            <a:r>
              <a:rPr dirty="0" err="1"/>
              <a:t>ra</a:t>
            </a:r>
            <a:r>
              <a:rPr dirty="0"/>
              <a:t>, </a:t>
            </a: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rảnh</a:t>
            </a:r>
            <a:r>
              <a:rPr dirty="0"/>
              <a:t> </a:t>
            </a:r>
            <a:r>
              <a:rPr dirty="0" err="1"/>
              <a:t>thì</a:t>
            </a:r>
            <a:r>
              <a:rPr dirty="0"/>
              <a:t> </a:t>
            </a:r>
            <a:r>
              <a:rPr dirty="0" err="1"/>
              <a:t>rút</a:t>
            </a:r>
            <a:r>
              <a:rPr dirty="0"/>
              <a:t> </a:t>
            </a:r>
            <a:r>
              <a:rPr lang="en-US" dirty="0" err="1"/>
              <a:t>ngắn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1">
                <a:solidFill>
                  <a:srgbClr val="4FC3F7"/>
                </a:solidFill>
                <a:latin typeface="Consolas"/>
              </a:defRPr>
            </a:pPr>
            <a:r>
              <a:t>01 — NỘI DUNG CHÍNH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3000" b="1">
                <a:solidFill>
                  <a:srgbClr val="EDF0F5"/>
                </a:solidFill>
                <a:latin typeface="Segoe UI"/>
              </a:defRPr>
            </a:pPr>
            <a:r>
              <a:t>Công nghệ lõi: YOLO26 định vị + ArcFace nhận diện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5029200" cy="484632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700" b="1">
                <a:solidFill>
                  <a:srgbClr val="4FC3F7"/>
                </a:solidFill>
                <a:latin typeface="Segoe UI"/>
              </a:defRPr>
            </a:pPr>
            <a:r>
              <a:t>YOLO26 — Định vị khuôn mặt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99541"/>
            <a:ext cx="4572000" cy="246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/>
              <a:t>  Nhanh </a:t>
            </a:r>
            <a:r>
              <a:rPr dirty="0" err="1"/>
              <a:t>hơn</a:t>
            </a:r>
            <a:r>
              <a:rPr dirty="0"/>
              <a:t> </a:t>
            </a:r>
            <a:r>
              <a:rPr dirty="0" err="1"/>
              <a:t>nhiều</a:t>
            </a:r>
            <a:r>
              <a:rPr dirty="0"/>
              <a:t> so </a:t>
            </a:r>
            <a:r>
              <a:rPr dirty="0" err="1"/>
              <a:t>với</a:t>
            </a:r>
            <a:r>
              <a:rPr dirty="0"/>
              <a:t> </a:t>
            </a:r>
            <a:r>
              <a:rPr dirty="0" err="1"/>
              <a:t>các</a:t>
            </a:r>
            <a:r>
              <a:rPr dirty="0"/>
              <a:t> </a:t>
            </a:r>
            <a:r>
              <a:rPr dirty="0" err="1"/>
              <a:t>bộ</a:t>
            </a:r>
            <a:r>
              <a:rPr dirty="0"/>
              <a:t> </a:t>
            </a:r>
            <a:r>
              <a:rPr dirty="0" err="1"/>
              <a:t>dò</a:t>
            </a:r>
            <a:r>
              <a:rPr dirty="0"/>
              <a:t> </a:t>
            </a:r>
            <a:r>
              <a:rPr dirty="0" err="1"/>
              <a:t>mặt</a:t>
            </a:r>
            <a:r>
              <a:rPr dirty="0"/>
              <a:t> </a:t>
            </a:r>
            <a:r>
              <a:rPr dirty="0" err="1"/>
              <a:t>cũ</a:t>
            </a:r>
            <a:r>
              <a:rPr dirty="0"/>
              <a:t>, </a:t>
            </a:r>
            <a:r>
              <a:rPr dirty="0" err="1"/>
              <a:t>hỗ</a:t>
            </a:r>
            <a:r>
              <a:rPr dirty="0"/>
              <a:t> </a:t>
            </a:r>
            <a:r>
              <a:rPr dirty="0" err="1"/>
              <a:t>trợ</a:t>
            </a:r>
            <a:r>
              <a:rPr dirty="0"/>
              <a:t> </a:t>
            </a: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tốc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cứng</a:t>
            </a:r>
            <a:r>
              <a:rPr dirty="0"/>
              <a:t> Intel (</a:t>
            </a:r>
            <a:r>
              <a:rPr dirty="0" err="1"/>
              <a:t>OpenVINO</a:t>
            </a:r>
            <a:r>
              <a:rPr dirty="0"/>
              <a:t>)</a:t>
            </a:r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/>
              <a:t>  Train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lớp</a:t>
            </a:r>
            <a:r>
              <a:rPr dirty="0"/>
              <a:t> </a:t>
            </a:r>
            <a:r>
              <a:rPr dirty="0" err="1"/>
              <a:t>từng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cách</a:t>
            </a:r>
            <a:r>
              <a:rPr dirty="0"/>
              <a:t> </a:t>
            </a:r>
            <a:r>
              <a:rPr dirty="0" err="1"/>
              <a:t>phân</a:t>
            </a:r>
            <a:r>
              <a:rPr dirty="0"/>
              <a:t> </a:t>
            </a:r>
            <a:r>
              <a:rPr dirty="0" err="1"/>
              <a:t>biệt</a:t>
            </a:r>
            <a:r>
              <a:rPr dirty="0"/>
              <a:t> </a:t>
            </a:r>
            <a:r>
              <a:rPr dirty="0" err="1"/>
              <a:t>tốt</a:t>
            </a:r>
            <a:r>
              <a:rPr dirty="0"/>
              <a:t> </a:t>
            </a:r>
            <a:r>
              <a:rPr dirty="0" err="1"/>
              <a:t>hơn</a:t>
            </a:r>
            <a:r>
              <a:rPr dirty="0"/>
              <a:t> </a:t>
            </a:r>
            <a:endParaRPr lang="en-US" dirty="0"/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 err="1"/>
              <a:t>Khái</a:t>
            </a:r>
            <a:r>
              <a:rPr dirty="0"/>
              <a:t> </a:t>
            </a:r>
            <a:r>
              <a:rPr dirty="0" err="1"/>
              <a:t>quát</a:t>
            </a:r>
            <a:r>
              <a:rPr dirty="0"/>
              <a:t> </a:t>
            </a:r>
            <a:r>
              <a:rPr dirty="0" err="1"/>
              <a:t>hoá</a:t>
            </a:r>
            <a:r>
              <a:rPr dirty="0"/>
              <a:t> </a:t>
            </a:r>
            <a:r>
              <a:rPr dirty="0" err="1"/>
              <a:t>tốt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ảnh</a:t>
            </a:r>
            <a:r>
              <a:rPr dirty="0"/>
              <a:t> webcam </a:t>
            </a:r>
            <a:r>
              <a:rPr dirty="0" err="1"/>
              <a:t>thực</a:t>
            </a:r>
            <a:r>
              <a:rPr dirty="0"/>
              <a:t> </a:t>
            </a:r>
            <a:r>
              <a:rPr dirty="0" err="1"/>
              <a:t>tế</a:t>
            </a:r>
            <a:r>
              <a:rPr dirty="0"/>
              <a:t> </a:t>
            </a:r>
            <a:r>
              <a:rPr dirty="0" err="1"/>
              <a:t>nhờ</a:t>
            </a:r>
            <a:r>
              <a:rPr dirty="0"/>
              <a:t> </a:t>
            </a: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cường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mạnh</a:t>
            </a:r>
            <a:r>
              <a:rPr dirty="0"/>
              <a:t> </a:t>
            </a:r>
            <a:r>
              <a:rPr dirty="0" err="1"/>
              <a:t>lúc</a:t>
            </a:r>
            <a:r>
              <a:rPr dirty="0"/>
              <a:t> train (</a:t>
            </a:r>
            <a:r>
              <a:rPr dirty="0" err="1"/>
              <a:t>đổi</a:t>
            </a:r>
            <a:r>
              <a:rPr dirty="0"/>
              <a:t> </a:t>
            </a:r>
            <a:r>
              <a:rPr dirty="0" err="1"/>
              <a:t>màu</a:t>
            </a:r>
            <a:r>
              <a:rPr dirty="0"/>
              <a:t>, </a:t>
            </a:r>
            <a:r>
              <a:rPr dirty="0" err="1"/>
              <a:t>ánh</a:t>
            </a:r>
            <a:r>
              <a:rPr dirty="0"/>
              <a:t> </a:t>
            </a:r>
            <a:r>
              <a:rPr dirty="0" err="1"/>
              <a:t>sáng</a:t>
            </a:r>
            <a:r>
              <a:rPr dirty="0"/>
              <a:t>,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khuất</a:t>
            </a:r>
            <a:r>
              <a:rPr dirty="0"/>
              <a:t> </a:t>
            </a:r>
            <a:r>
              <a:rPr dirty="0" err="1"/>
              <a:t>một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508760"/>
            <a:ext cx="5029200" cy="484632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700" b="1">
                <a:solidFill>
                  <a:srgbClr val="4FC3F7"/>
                </a:solidFill>
                <a:latin typeface="Segoe UI"/>
              </a:defRPr>
            </a:pPr>
            <a:r>
              <a:t>ArcFace — Nhận diện danh tính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423801"/>
            <a:ext cx="4572000" cy="246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/>
              <a:t>  </a:t>
            </a:r>
            <a:r>
              <a:rPr dirty="0" err="1"/>
              <a:t>Mỗi</a:t>
            </a:r>
            <a:r>
              <a:rPr dirty="0"/>
              <a:t> </a:t>
            </a:r>
            <a:r>
              <a:rPr dirty="0" err="1"/>
              <a:t>khuôn</a:t>
            </a:r>
            <a:r>
              <a:rPr dirty="0"/>
              <a:t> </a:t>
            </a:r>
            <a:r>
              <a:rPr dirty="0" err="1"/>
              <a:t>mặt</a:t>
            </a:r>
            <a:r>
              <a:rPr dirty="0"/>
              <a:t> → 1 vector 512 </a:t>
            </a:r>
            <a:r>
              <a:rPr dirty="0" err="1"/>
              <a:t>số</a:t>
            </a:r>
            <a:r>
              <a:rPr dirty="0"/>
              <a:t>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chuẩn</a:t>
            </a:r>
            <a:r>
              <a:rPr dirty="0"/>
              <a:t> </a:t>
            </a:r>
            <a:r>
              <a:rPr dirty="0" err="1"/>
              <a:t>hoá</a:t>
            </a:r>
            <a:r>
              <a:rPr dirty="0"/>
              <a:t> </a:t>
            </a:r>
            <a:r>
              <a:rPr dirty="0" err="1"/>
              <a:t>về</a:t>
            </a:r>
            <a:r>
              <a:rPr dirty="0"/>
              <a:t> </a:t>
            </a:r>
            <a:r>
              <a:rPr dirty="0" err="1"/>
              <a:t>cùng</a:t>
            </a:r>
            <a:r>
              <a:rPr dirty="0"/>
              <a:t> 1 </a:t>
            </a:r>
            <a:r>
              <a:rPr dirty="0" err="1"/>
              <a:t>độ</a:t>
            </a:r>
            <a:r>
              <a:rPr dirty="0"/>
              <a:t> </a:t>
            </a:r>
            <a:r>
              <a:rPr dirty="0" err="1"/>
              <a:t>dài</a:t>
            </a:r>
            <a:r>
              <a:rPr dirty="0"/>
              <a:t> → so 2 </a:t>
            </a:r>
            <a:r>
              <a:rPr dirty="0" err="1"/>
              <a:t>khuôn</a:t>
            </a:r>
            <a:r>
              <a:rPr dirty="0"/>
              <a:t> </a:t>
            </a:r>
            <a:r>
              <a:rPr dirty="0" err="1"/>
              <a:t>mặt</a:t>
            </a:r>
            <a:r>
              <a:rPr dirty="0"/>
              <a:t> </a:t>
            </a:r>
            <a:r>
              <a:rPr dirty="0" err="1"/>
              <a:t>giống</a:t>
            </a:r>
            <a:r>
              <a:rPr dirty="0"/>
              <a:t> </a:t>
            </a:r>
            <a:r>
              <a:rPr dirty="0" err="1"/>
              <a:t>nhau</a:t>
            </a:r>
            <a:r>
              <a:rPr dirty="0"/>
              <a:t> bao </a:t>
            </a:r>
            <a:r>
              <a:rPr dirty="0" err="1"/>
              <a:t>nhiêu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còn</a:t>
            </a:r>
            <a:r>
              <a:rPr dirty="0"/>
              <a:t> 1 </a:t>
            </a:r>
            <a:r>
              <a:rPr dirty="0" err="1"/>
              <a:t>phép</a:t>
            </a:r>
            <a:r>
              <a:rPr dirty="0"/>
              <a:t> </a:t>
            </a:r>
            <a:r>
              <a:rPr dirty="0" err="1"/>
              <a:t>nhân</a:t>
            </a:r>
            <a:r>
              <a:rPr dirty="0"/>
              <a:t> </a:t>
            </a:r>
            <a:r>
              <a:rPr dirty="0" err="1"/>
              <a:t>đơn</a:t>
            </a:r>
            <a:r>
              <a:rPr dirty="0"/>
              <a:t> </a:t>
            </a:r>
            <a:r>
              <a:rPr dirty="0" err="1"/>
              <a:t>giản</a:t>
            </a:r>
            <a:endParaRPr dirty="0"/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/>
              <a:t>  </a:t>
            </a:r>
            <a:r>
              <a:rPr dirty="0" err="1"/>
              <a:t>Lúc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,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r>
              <a:rPr dirty="0"/>
              <a:t> </a:t>
            </a:r>
            <a:r>
              <a:rPr dirty="0" err="1"/>
              <a:t>chủ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 </a:t>
            </a:r>
            <a:r>
              <a:rPr dirty="0" err="1"/>
              <a:t>kéo</a:t>
            </a:r>
            <a:r>
              <a:rPr dirty="0"/>
              <a:t> </a:t>
            </a:r>
            <a:r>
              <a:rPr dirty="0" err="1"/>
              <a:t>khuôn</a:t>
            </a:r>
            <a:r>
              <a:rPr dirty="0"/>
              <a:t> </a:t>
            </a:r>
            <a:r>
              <a:rPr dirty="0" err="1"/>
              <a:t>mặt</a:t>
            </a:r>
            <a:r>
              <a:rPr dirty="0"/>
              <a:t> </a:t>
            </a:r>
            <a:r>
              <a:rPr dirty="0" err="1"/>
              <a:t>của</a:t>
            </a:r>
            <a:r>
              <a:rPr dirty="0"/>
              <a:t> 2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khác</a:t>
            </a:r>
            <a:r>
              <a:rPr dirty="0"/>
              <a:t> </a:t>
            </a:r>
            <a:r>
              <a:rPr dirty="0" err="1"/>
              <a:t>nhau</a:t>
            </a:r>
            <a:r>
              <a:rPr dirty="0"/>
              <a:t> </a:t>
            </a:r>
            <a:r>
              <a:rPr dirty="0" err="1"/>
              <a:t>ra</a:t>
            </a:r>
            <a:r>
              <a:rPr dirty="0"/>
              <a:t> xa </a:t>
            </a:r>
            <a:r>
              <a:rPr dirty="0" err="1"/>
              <a:t>nhau</a:t>
            </a:r>
            <a:r>
              <a:rPr dirty="0"/>
              <a:t> </a:t>
            </a:r>
            <a:r>
              <a:rPr dirty="0" err="1"/>
              <a:t>hơn</a:t>
            </a:r>
            <a:r>
              <a:rPr dirty="0"/>
              <a:t> — </a:t>
            </a:r>
            <a:r>
              <a:rPr dirty="0" err="1"/>
              <a:t>quan</a:t>
            </a:r>
            <a:r>
              <a:rPr dirty="0"/>
              <a:t> </a:t>
            </a:r>
            <a:r>
              <a:rPr dirty="0" err="1"/>
              <a:t>trọng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2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trông</a:t>
            </a:r>
            <a:r>
              <a:rPr dirty="0"/>
              <a:t> </a:t>
            </a:r>
            <a:r>
              <a:rPr dirty="0" err="1"/>
              <a:t>khá</a:t>
            </a:r>
            <a:r>
              <a:rPr dirty="0"/>
              <a:t> </a:t>
            </a:r>
            <a:r>
              <a:rPr dirty="0" err="1"/>
              <a:t>giống</a:t>
            </a:r>
            <a:r>
              <a:rPr dirty="0"/>
              <a:t> </a:t>
            </a:r>
            <a:r>
              <a:rPr dirty="0" err="1"/>
              <a:t>nhau</a:t>
            </a:r>
            <a:endParaRPr dirty="0"/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/>
              <a:t>  Pretrained </a:t>
            </a:r>
            <a:r>
              <a:rPr dirty="0" err="1"/>
              <a:t>sẵn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khuôn</a:t>
            </a:r>
            <a:r>
              <a:rPr lang="en-US" dirty="0"/>
              <a:t> </a:t>
            </a:r>
            <a:r>
              <a:rPr dirty="0" err="1"/>
              <a:t>mặt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khai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1">
                <a:solidFill>
                  <a:srgbClr val="4FC3F7"/>
                </a:solidFill>
                <a:latin typeface="Consolas"/>
              </a:defRPr>
            </a:pPr>
            <a:r>
              <a:t>01 — NỘI DUNG CHÍNH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49384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3000" b="1">
                <a:solidFill>
                  <a:srgbClr val="EDF0F5"/>
                </a:solidFill>
                <a:latin typeface="Segoe UI"/>
              </a:defRPr>
            </a:pPr>
            <a:r>
              <a:rPr dirty="0" err="1"/>
              <a:t>Chống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nhầm</a:t>
            </a:r>
            <a:r>
              <a:rPr dirty="0"/>
              <a:t> &amp; </a:t>
            </a:r>
            <a:r>
              <a:rPr dirty="0" err="1"/>
              <a:t>thích</a:t>
            </a:r>
            <a:r>
              <a:rPr dirty="0"/>
              <a:t> </a:t>
            </a:r>
            <a:r>
              <a:rPr dirty="0" err="1"/>
              <a:t>nghi</a:t>
            </a:r>
            <a:r>
              <a:rPr dirty="0"/>
              <a:t> camera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5029200" cy="484632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600" b="1">
                <a:solidFill>
                  <a:srgbClr val="EDF0F5"/>
                </a:solidFill>
                <a:latin typeface="Segoe UI"/>
              </a:defRPr>
            </a:pPr>
            <a:r>
              <a:t>Nhiều lớp chống nhận sai xếp chồng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80" y="2387433"/>
            <a:ext cx="4572000" cy="2083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</a:t>
            </a:r>
            <a:r>
              <a:rPr sz="1400" dirty="0" err="1"/>
              <a:t>Đếm</a:t>
            </a:r>
            <a:r>
              <a:rPr sz="1400" dirty="0"/>
              <a:t> </a:t>
            </a:r>
            <a:r>
              <a:rPr sz="1400" dirty="0" err="1"/>
              <a:t>theo</a:t>
            </a:r>
            <a:r>
              <a:rPr sz="1400" dirty="0"/>
              <a:t> </a:t>
            </a:r>
            <a:r>
              <a:rPr sz="1400" dirty="0" err="1"/>
              <a:t>đa</a:t>
            </a:r>
            <a:r>
              <a:rPr sz="1400" dirty="0"/>
              <a:t> </a:t>
            </a:r>
            <a:r>
              <a:rPr sz="1400" dirty="0" err="1"/>
              <a:t>số</a:t>
            </a:r>
            <a:r>
              <a:rPr sz="1400" dirty="0"/>
              <a:t> </a:t>
            </a:r>
            <a:r>
              <a:rPr sz="1400" dirty="0" err="1"/>
              <a:t>trong</a:t>
            </a:r>
            <a:r>
              <a:rPr sz="1400" dirty="0"/>
              <a:t> 5 </a:t>
            </a:r>
            <a:r>
              <a:rPr sz="1400" dirty="0" err="1"/>
              <a:t>khung</a:t>
            </a:r>
            <a:r>
              <a:rPr sz="1400" dirty="0"/>
              <a:t> </a:t>
            </a:r>
            <a:r>
              <a:rPr sz="1400" dirty="0" err="1"/>
              <a:t>hình</a:t>
            </a:r>
            <a:r>
              <a:rPr sz="1400" dirty="0"/>
              <a:t> </a:t>
            </a:r>
            <a:r>
              <a:rPr sz="1400" dirty="0" err="1"/>
              <a:t>gần</a:t>
            </a:r>
            <a:r>
              <a:rPr sz="1400" dirty="0"/>
              <a:t> </a:t>
            </a:r>
            <a:r>
              <a:rPr sz="1400" dirty="0" err="1"/>
              <a:t>nhất</a:t>
            </a:r>
            <a:r>
              <a:rPr sz="1400" dirty="0"/>
              <a:t> — 1-2 </a:t>
            </a:r>
            <a:r>
              <a:rPr sz="1400" dirty="0" err="1"/>
              <a:t>khung</a:t>
            </a:r>
            <a:r>
              <a:rPr sz="1400" dirty="0"/>
              <a:t> </a:t>
            </a:r>
            <a:r>
              <a:rPr sz="1400" dirty="0" err="1"/>
              <a:t>nhiễu</a:t>
            </a:r>
            <a:r>
              <a:rPr sz="1400" dirty="0"/>
              <a:t> </a:t>
            </a:r>
            <a:r>
              <a:rPr sz="1400" dirty="0" err="1"/>
              <a:t>không</a:t>
            </a:r>
            <a:r>
              <a:rPr sz="1400" dirty="0"/>
              <a:t> </a:t>
            </a:r>
            <a:r>
              <a:rPr sz="1400" dirty="0" err="1"/>
              <a:t>đủ</a:t>
            </a:r>
            <a:r>
              <a:rPr sz="1400" dirty="0"/>
              <a:t> </a:t>
            </a:r>
            <a:r>
              <a:rPr sz="1400" dirty="0" err="1"/>
              <a:t>lật</a:t>
            </a:r>
            <a:r>
              <a:rPr sz="1400" dirty="0"/>
              <a:t> </a:t>
            </a:r>
            <a:r>
              <a:rPr sz="1400" dirty="0" err="1"/>
              <a:t>kết</a:t>
            </a:r>
            <a:r>
              <a:rPr sz="1400" dirty="0"/>
              <a:t> </a:t>
            </a:r>
            <a:r>
              <a:rPr sz="1400" dirty="0" err="1"/>
              <a:t>quả</a:t>
            </a:r>
            <a:endParaRPr sz="1400" dirty="0"/>
          </a:p>
          <a:p>
            <a:pPr>
              <a:lnSpc>
                <a:spcPct val="145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</a:t>
            </a:r>
            <a:r>
              <a:rPr sz="1400" dirty="0" err="1"/>
              <a:t>Ảnh</a:t>
            </a:r>
            <a:r>
              <a:rPr sz="1400" dirty="0"/>
              <a:t> </a:t>
            </a:r>
            <a:r>
              <a:rPr sz="1400" dirty="0" err="1"/>
              <a:t>mờ</a:t>
            </a:r>
            <a:r>
              <a:rPr sz="1400" dirty="0"/>
              <a:t> do di </a:t>
            </a:r>
            <a:r>
              <a:rPr sz="1400" dirty="0" err="1"/>
              <a:t>chuyển</a:t>
            </a:r>
            <a:r>
              <a:rPr sz="1400" dirty="0"/>
              <a:t> → </a:t>
            </a:r>
            <a:r>
              <a:rPr sz="1400" dirty="0" err="1"/>
              <a:t>bỏ</a:t>
            </a:r>
            <a:r>
              <a:rPr sz="1400" dirty="0"/>
              <a:t> qua </a:t>
            </a:r>
            <a:r>
              <a:rPr sz="1400" dirty="0" err="1"/>
              <a:t>hẳn</a:t>
            </a:r>
            <a:r>
              <a:rPr sz="1400" dirty="0"/>
              <a:t>, </a:t>
            </a:r>
            <a:r>
              <a:rPr sz="1400" dirty="0" err="1"/>
              <a:t>không</a:t>
            </a:r>
            <a:r>
              <a:rPr sz="1400" dirty="0"/>
              <a:t> </a:t>
            </a:r>
            <a:r>
              <a:rPr sz="1400" dirty="0" err="1"/>
              <a:t>chạy</a:t>
            </a:r>
            <a:r>
              <a:rPr sz="1400" dirty="0"/>
              <a:t> </a:t>
            </a:r>
            <a:r>
              <a:rPr sz="1400" dirty="0" err="1"/>
              <a:t>nhận</a:t>
            </a:r>
            <a:r>
              <a:rPr sz="1400" dirty="0"/>
              <a:t> </a:t>
            </a:r>
            <a:r>
              <a:rPr sz="1400" dirty="0" err="1"/>
              <a:t>diện</a:t>
            </a:r>
            <a:r>
              <a:rPr sz="1400" dirty="0"/>
              <a:t>, </a:t>
            </a:r>
            <a:r>
              <a:rPr sz="1400" dirty="0" err="1"/>
              <a:t>đợi</a:t>
            </a:r>
            <a:r>
              <a:rPr sz="1400" dirty="0"/>
              <a:t> </a:t>
            </a:r>
            <a:r>
              <a:rPr sz="1400" dirty="0" err="1"/>
              <a:t>khung</a:t>
            </a:r>
            <a:r>
              <a:rPr sz="1400" dirty="0"/>
              <a:t> </a:t>
            </a:r>
            <a:r>
              <a:rPr sz="1400" dirty="0" err="1"/>
              <a:t>hình</a:t>
            </a:r>
            <a:r>
              <a:rPr sz="1400" dirty="0"/>
              <a:t> </a:t>
            </a:r>
            <a:r>
              <a:rPr sz="1400" dirty="0" err="1"/>
              <a:t>nét</a:t>
            </a:r>
            <a:r>
              <a:rPr sz="1400" dirty="0"/>
              <a:t> </a:t>
            </a:r>
            <a:r>
              <a:rPr sz="1400" dirty="0" err="1"/>
              <a:t>hơn</a:t>
            </a:r>
            <a:endParaRPr sz="1400" dirty="0"/>
          </a:p>
          <a:p>
            <a:pPr>
              <a:lnSpc>
                <a:spcPct val="145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2 </a:t>
            </a:r>
            <a:r>
              <a:rPr sz="1400" dirty="0" err="1"/>
              <a:t>người</a:t>
            </a:r>
            <a:r>
              <a:rPr sz="1400" dirty="0"/>
              <a:t> </a:t>
            </a:r>
            <a:r>
              <a:rPr sz="1400" dirty="0" err="1"/>
              <a:t>dễ</a:t>
            </a:r>
            <a:r>
              <a:rPr sz="1400" dirty="0"/>
              <a:t> </a:t>
            </a:r>
            <a:r>
              <a:rPr sz="1400" dirty="0" err="1"/>
              <a:t>nhầm</a:t>
            </a:r>
            <a:r>
              <a:rPr sz="1400" dirty="0"/>
              <a:t> </a:t>
            </a:r>
            <a:r>
              <a:rPr sz="1400" dirty="0" err="1"/>
              <a:t>nhau</a:t>
            </a:r>
            <a:r>
              <a:rPr sz="1400" dirty="0"/>
              <a:t> → </a:t>
            </a:r>
            <a:r>
              <a:rPr sz="1400" dirty="0" err="1"/>
              <a:t>nếu</a:t>
            </a:r>
            <a:r>
              <a:rPr sz="1400" dirty="0"/>
              <a:t> </a:t>
            </a:r>
            <a:r>
              <a:rPr sz="1400" dirty="0" err="1"/>
              <a:t>điểm</a:t>
            </a:r>
            <a:r>
              <a:rPr sz="1400" dirty="0"/>
              <a:t> </a:t>
            </a:r>
            <a:r>
              <a:rPr sz="1400" dirty="0" err="1"/>
              <a:t>số</a:t>
            </a:r>
            <a:r>
              <a:rPr sz="1400" dirty="0"/>
              <a:t> </a:t>
            </a:r>
            <a:r>
              <a:rPr sz="1400" dirty="0" err="1"/>
              <a:t>quá</a:t>
            </a:r>
            <a:r>
              <a:rPr sz="1400" dirty="0"/>
              <a:t> </a:t>
            </a:r>
            <a:r>
              <a:rPr sz="1400" dirty="0" err="1"/>
              <a:t>sát</a:t>
            </a:r>
            <a:r>
              <a:rPr sz="1400" dirty="0"/>
              <a:t> </a:t>
            </a:r>
            <a:r>
              <a:rPr sz="1400" dirty="0" err="1"/>
              <a:t>nhau</a:t>
            </a:r>
            <a:r>
              <a:rPr sz="1400" dirty="0"/>
              <a:t>, </a:t>
            </a:r>
            <a:r>
              <a:rPr sz="1400" dirty="0" err="1"/>
              <a:t>hệ</a:t>
            </a:r>
            <a:r>
              <a:rPr sz="1400" dirty="0"/>
              <a:t> </a:t>
            </a:r>
            <a:r>
              <a:rPr sz="1400" dirty="0" err="1"/>
              <a:t>thống</a:t>
            </a:r>
            <a:r>
              <a:rPr sz="1400" dirty="0"/>
              <a:t> </a:t>
            </a:r>
            <a:r>
              <a:rPr sz="1400" dirty="0" err="1"/>
              <a:t>từ</a:t>
            </a:r>
            <a:r>
              <a:rPr sz="1400" dirty="0"/>
              <a:t> </a:t>
            </a:r>
            <a:r>
              <a:rPr sz="1400" dirty="0" err="1"/>
              <a:t>chối</a:t>
            </a:r>
            <a:r>
              <a:rPr sz="1400" dirty="0"/>
              <a:t> </a:t>
            </a:r>
            <a:r>
              <a:rPr sz="1400" dirty="0" err="1"/>
              <a:t>gán</a:t>
            </a:r>
            <a:r>
              <a:rPr sz="1400" dirty="0"/>
              <a:t> </a:t>
            </a:r>
            <a:r>
              <a:rPr sz="1400" dirty="0" err="1"/>
              <a:t>tên</a:t>
            </a:r>
            <a:r>
              <a:rPr sz="1400" dirty="0"/>
              <a:t> </a:t>
            </a:r>
            <a:r>
              <a:rPr sz="1400" dirty="0" err="1"/>
              <a:t>thay</a:t>
            </a:r>
            <a:r>
              <a:rPr sz="1400" dirty="0"/>
              <a:t> </a:t>
            </a:r>
            <a:r>
              <a:rPr sz="1400" dirty="0" err="1"/>
              <a:t>vì</a:t>
            </a:r>
            <a:r>
              <a:rPr sz="1400" dirty="0"/>
              <a:t> </a:t>
            </a:r>
            <a:r>
              <a:rPr sz="1400" dirty="0" err="1"/>
              <a:t>đoán</a:t>
            </a:r>
            <a:r>
              <a:rPr sz="1400" dirty="0"/>
              <a:t> </a:t>
            </a:r>
            <a:r>
              <a:rPr sz="1400" dirty="0" err="1"/>
              <a:t>liều</a:t>
            </a:r>
            <a:endParaRPr sz="1400" dirty="0"/>
          </a:p>
        </p:txBody>
      </p:sp>
      <p:sp>
        <p:nvSpPr>
          <p:cNvPr id="7" name="Rectangle 6"/>
          <p:cNvSpPr/>
          <p:nvPr/>
        </p:nvSpPr>
        <p:spPr>
          <a:xfrm>
            <a:off x="6400800" y="1508760"/>
            <a:ext cx="5029200" cy="484632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600" b="1">
                <a:solidFill>
                  <a:srgbClr val="EDF0F5"/>
                </a:solidFill>
                <a:latin typeface="Segoe UI"/>
              </a:defRPr>
            </a:pPr>
            <a:r>
              <a:t>Thích nghi camera khác chất lượng + PLC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409826"/>
            <a:ext cx="4572000" cy="2707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5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Camera </a:t>
            </a:r>
            <a:r>
              <a:rPr sz="1400" dirty="0" err="1"/>
              <a:t>ảnh</a:t>
            </a:r>
            <a:r>
              <a:rPr sz="1400" dirty="0"/>
              <a:t> </a:t>
            </a:r>
            <a:r>
              <a:rPr sz="1400" dirty="0" err="1"/>
              <a:t>kém</a:t>
            </a:r>
            <a:r>
              <a:rPr sz="1400" dirty="0"/>
              <a:t> </a:t>
            </a:r>
            <a:r>
              <a:rPr sz="1400" dirty="0" err="1"/>
              <a:t>hơn</a:t>
            </a:r>
            <a:r>
              <a:rPr sz="1400" dirty="0"/>
              <a:t> (</a:t>
            </a:r>
            <a:r>
              <a:rPr sz="1400" dirty="0" err="1"/>
              <a:t>không</a:t>
            </a:r>
            <a:r>
              <a:rPr sz="1400" dirty="0"/>
              <a:t> </a:t>
            </a:r>
            <a:r>
              <a:rPr sz="1400" dirty="0" err="1"/>
              <a:t>lấy</a:t>
            </a:r>
            <a:r>
              <a:rPr sz="1400" dirty="0"/>
              <a:t> </a:t>
            </a:r>
            <a:r>
              <a:rPr sz="1400" dirty="0" err="1"/>
              <a:t>nét</a:t>
            </a:r>
            <a:r>
              <a:rPr sz="1400" dirty="0"/>
              <a:t> </a:t>
            </a:r>
            <a:r>
              <a:rPr sz="1400" dirty="0" err="1"/>
              <a:t>tự</a:t>
            </a:r>
            <a:r>
              <a:rPr sz="1400" dirty="0"/>
              <a:t> </a:t>
            </a:r>
            <a:r>
              <a:rPr sz="1400" dirty="0" err="1"/>
              <a:t>động</a:t>
            </a:r>
            <a:r>
              <a:rPr sz="1400" dirty="0"/>
              <a:t>, </a:t>
            </a:r>
            <a:r>
              <a:rPr sz="1400" dirty="0" err="1"/>
              <a:t>không</a:t>
            </a:r>
            <a:r>
              <a:rPr sz="1400" dirty="0"/>
              <a:t> HDR) </a:t>
            </a:r>
            <a:r>
              <a:rPr sz="1400" dirty="0" err="1"/>
              <a:t>được</a:t>
            </a:r>
            <a:r>
              <a:rPr sz="1400" dirty="0"/>
              <a:t> </a:t>
            </a:r>
            <a:r>
              <a:rPr sz="1400" dirty="0" err="1"/>
              <a:t>bù</a:t>
            </a:r>
            <a:r>
              <a:rPr sz="1400" dirty="0"/>
              <a:t> </a:t>
            </a:r>
            <a:r>
              <a:rPr sz="1400" dirty="0" err="1"/>
              <a:t>riêng</a:t>
            </a:r>
            <a:r>
              <a:rPr sz="1400" dirty="0"/>
              <a:t>: </a:t>
            </a:r>
            <a:r>
              <a:rPr sz="1400" dirty="0" err="1"/>
              <a:t>cân</a:t>
            </a:r>
            <a:r>
              <a:rPr sz="1400" dirty="0"/>
              <a:t> </a:t>
            </a:r>
            <a:r>
              <a:rPr sz="1400" dirty="0" err="1"/>
              <a:t>sáng</a:t>
            </a:r>
            <a:r>
              <a:rPr sz="1400" dirty="0"/>
              <a:t>, </a:t>
            </a:r>
            <a:r>
              <a:rPr sz="1400" dirty="0" err="1"/>
              <a:t>làm</a:t>
            </a:r>
            <a:r>
              <a:rPr sz="1400" dirty="0"/>
              <a:t> </a:t>
            </a:r>
            <a:r>
              <a:rPr sz="1400" dirty="0" err="1"/>
              <a:t>nét</a:t>
            </a:r>
            <a:r>
              <a:rPr sz="1400" dirty="0"/>
              <a:t>, </a:t>
            </a:r>
            <a:r>
              <a:rPr sz="1400" dirty="0" err="1"/>
              <a:t>siết</a:t>
            </a:r>
            <a:r>
              <a:rPr sz="1400" dirty="0"/>
              <a:t> </a:t>
            </a:r>
            <a:r>
              <a:rPr sz="1400" dirty="0" err="1"/>
              <a:t>ngưỡng</a:t>
            </a:r>
            <a:r>
              <a:rPr sz="1400" dirty="0"/>
              <a:t> </a:t>
            </a:r>
            <a:r>
              <a:rPr sz="1400" dirty="0" err="1"/>
              <a:t>cao</a:t>
            </a:r>
            <a:r>
              <a:rPr sz="1400" dirty="0"/>
              <a:t> </a:t>
            </a:r>
            <a:r>
              <a:rPr sz="1400" dirty="0" err="1"/>
              <a:t>hơn</a:t>
            </a:r>
            <a:endParaRPr sz="1400" dirty="0"/>
          </a:p>
          <a:p>
            <a:pPr>
              <a:lnSpc>
                <a:spcPct val="145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</a:t>
            </a:r>
            <a:r>
              <a:rPr sz="1400" dirty="0" err="1"/>
              <a:t>Mức</a:t>
            </a:r>
            <a:r>
              <a:rPr sz="1400" dirty="0"/>
              <a:t> </a:t>
            </a:r>
            <a:r>
              <a:rPr sz="1400" dirty="0" err="1"/>
              <a:t>bù</a:t>
            </a:r>
            <a:r>
              <a:rPr sz="1400" dirty="0"/>
              <a:t> </a:t>
            </a:r>
            <a:r>
              <a:rPr sz="1400" dirty="0" err="1"/>
              <a:t>tính</a:t>
            </a:r>
            <a:r>
              <a:rPr sz="1400" dirty="0"/>
              <a:t> </a:t>
            </a:r>
            <a:r>
              <a:rPr sz="1400" dirty="0" err="1"/>
              <a:t>từ</a:t>
            </a:r>
            <a:r>
              <a:rPr sz="1400" dirty="0"/>
              <a:t> </a:t>
            </a:r>
            <a:r>
              <a:rPr sz="1400" dirty="0" err="1"/>
              <a:t>chênh</a:t>
            </a:r>
            <a:r>
              <a:rPr sz="1400" dirty="0"/>
              <a:t> </a:t>
            </a:r>
            <a:r>
              <a:rPr sz="1400" dirty="0" err="1"/>
              <a:t>lệch</a:t>
            </a:r>
            <a:r>
              <a:rPr sz="1400" dirty="0"/>
              <a:t> </a:t>
            </a:r>
            <a:r>
              <a:rPr sz="1400" dirty="0" err="1"/>
              <a:t>thông</a:t>
            </a:r>
            <a:r>
              <a:rPr sz="1400" dirty="0"/>
              <a:t> </a:t>
            </a:r>
            <a:r>
              <a:rPr sz="1400" dirty="0" err="1"/>
              <a:t>số</a:t>
            </a:r>
            <a:r>
              <a:rPr sz="1400" dirty="0"/>
              <a:t> </a:t>
            </a:r>
            <a:r>
              <a:rPr sz="1400" dirty="0" err="1"/>
              <a:t>phần</a:t>
            </a:r>
            <a:r>
              <a:rPr sz="1400" dirty="0"/>
              <a:t> </a:t>
            </a:r>
            <a:r>
              <a:rPr sz="1400" dirty="0" err="1"/>
              <a:t>cứng</a:t>
            </a:r>
            <a:r>
              <a:rPr sz="1400" dirty="0"/>
              <a:t> </a:t>
            </a:r>
            <a:r>
              <a:rPr sz="1400" dirty="0" err="1"/>
              <a:t>thực</a:t>
            </a:r>
            <a:r>
              <a:rPr sz="1400" dirty="0"/>
              <a:t> </a:t>
            </a:r>
            <a:r>
              <a:rPr sz="1400" dirty="0" err="1"/>
              <a:t>đo</a:t>
            </a:r>
            <a:r>
              <a:rPr sz="1400" dirty="0"/>
              <a:t> </a:t>
            </a:r>
            <a:r>
              <a:rPr sz="1400" dirty="0" err="1"/>
              <a:t>giữa</a:t>
            </a:r>
            <a:r>
              <a:rPr sz="1400" dirty="0"/>
              <a:t> 2 camera, </a:t>
            </a:r>
            <a:r>
              <a:rPr sz="1400" dirty="0" err="1"/>
              <a:t>không</a:t>
            </a:r>
            <a:r>
              <a:rPr sz="1400" dirty="0"/>
              <a:t> </a:t>
            </a:r>
            <a:r>
              <a:rPr sz="1400" dirty="0" err="1"/>
              <a:t>chỉnh</a:t>
            </a:r>
            <a:r>
              <a:rPr sz="1400" dirty="0"/>
              <a:t> </a:t>
            </a:r>
            <a:r>
              <a:rPr sz="1400" dirty="0" err="1"/>
              <a:t>tay</a:t>
            </a:r>
            <a:r>
              <a:rPr sz="1400" dirty="0"/>
              <a:t> </a:t>
            </a:r>
            <a:r>
              <a:rPr sz="1400" dirty="0" err="1"/>
              <a:t>cảm</a:t>
            </a:r>
            <a:r>
              <a:rPr sz="1400" dirty="0"/>
              <a:t> </a:t>
            </a:r>
            <a:r>
              <a:rPr sz="1400" dirty="0" err="1"/>
              <a:t>tính</a:t>
            </a:r>
            <a:endParaRPr sz="1400" dirty="0"/>
          </a:p>
          <a:p>
            <a:pPr>
              <a:lnSpc>
                <a:spcPct val="145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</a:t>
            </a:r>
            <a:r>
              <a:rPr sz="1400" dirty="0" err="1"/>
              <a:t>Kết</a:t>
            </a:r>
            <a:r>
              <a:rPr sz="1400" dirty="0"/>
              <a:t> </a:t>
            </a:r>
            <a:r>
              <a:rPr sz="1400" dirty="0" err="1"/>
              <a:t>quả</a:t>
            </a:r>
            <a:r>
              <a:rPr sz="1400" dirty="0"/>
              <a:t> </a:t>
            </a:r>
            <a:r>
              <a:rPr sz="1400" dirty="0" err="1"/>
              <a:t>nhận</a:t>
            </a:r>
            <a:r>
              <a:rPr sz="1400" dirty="0"/>
              <a:t> </a:t>
            </a:r>
            <a:r>
              <a:rPr sz="1400" dirty="0" err="1"/>
              <a:t>diện</a:t>
            </a:r>
            <a:r>
              <a:rPr sz="1400" dirty="0"/>
              <a:t> </a:t>
            </a:r>
            <a:r>
              <a:rPr sz="1400" dirty="0" err="1"/>
              <a:t>kích</a:t>
            </a:r>
            <a:r>
              <a:rPr sz="1400" dirty="0"/>
              <a:t> </a:t>
            </a:r>
            <a:r>
              <a:rPr sz="1400" dirty="0" err="1"/>
              <a:t>hoạt</a:t>
            </a:r>
            <a:r>
              <a:rPr sz="1400" dirty="0"/>
              <a:t> </a:t>
            </a:r>
            <a:r>
              <a:rPr sz="1400" dirty="0" err="1"/>
              <a:t>trực</a:t>
            </a:r>
            <a:r>
              <a:rPr sz="1400" dirty="0"/>
              <a:t> </a:t>
            </a:r>
            <a:r>
              <a:rPr sz="1400" dirty="0" err="1"/>
              <a:t>tiếp</a:t>
            </a:r>
            <a:r>
              <a:rPr sz="1400" dirty="0"/>
              <a:t> </a:t>
            </a:r>
            <a:r>
              <a:rPr sz="1400" dirty="0" err="1"/>
              <a:t>đèn</a:t>
            </a:r>
            <a:r>
              <a:rPr sz="1400" dirty="0"/>
              <a:t> </a:t>
            </a:r>
            <a:r>
              <a:rPr sz="1400" dirty="0" err="1"/>
              <a:t>tháp</a:t>
            </a:r>
            <a:r>
              <a:rPr sz="1400" dirty="0"/>
              <a:t> PLC </a:t>
            </a:r>
            <a:r>
              <a:rPr lang="en-US" sz="1400" dirty="0"/>
              <a:t>(</a:t>
            </a:r>
            <a:r>
              <a:rPr sz="1400" dirty="0" err="1"/>
              <a:t>xanh</a:t>
            </a:r>
            <a:r>
              <a:rPr sz="1400" dirty="0"/>
              <a:t> / </a:t>
            </a:r>
            <a:r>
              <a:rPr sz="1400" dirty="0" err="1"/>
              <a:t>vàng</a:t>
            </a:r>
            <a:r>
              <a:rPr sz="1400" dirty="0"/>
              <a:t> / </a:t>
            </a:r>
            <a:r>
              <a:rPr sz="1400" dirty="0" err="1"/>
              <a:t>đỏ</a:t>
            </a:r>
            <a:r>
              <a:rPr sz="1400" dirty="0"/>
              <a:t>) qua </a:t>
            </a:r>
            <a:r>
              <a:rPr sz="1400" dirty="0" err="1"/>
              <a:t>kết</a:t>
            </a:r>
            <a:r>
              <a:rPr sz="1400" dirty="0"/>
              <a:t> </a:t>
            </a:r>
            <a:r>
              <a:rPr sz="1400" dirty="0" err="1"/>
              <a:t>nối</a:t>
            </a:r>
            <a:r>
              <a:rPr sz="1400" dirty="0"/>
              <a:t> </a:t>
            </a:r>
            <a:r>
              <a:rPr sz="1400" dirty="0" err="1"/>
              <a:t>mạng</a:t>
            </a:r>
            <a:r>
              <a:rPr sz="1400" dirty="0"/>
              <a:t>, </a:t>
            </a:r>
            <a:r>
              <a:rPr sz="1400" dirty="0" err="1"/>
              <a:t>không</a:t>
            </a:r>
            <a:r>
              <a:rPr sz="1400" dirty="0"/>
              <a:t> qua </a:t>
            </a:r>
            <a:r>
              <a:rPr sz="1400" dirty="0" err="1"/>
              <a:t>người</a:t>
            </a:r>
            <a:r>
              <a:rPr sz="1400" dirty="0"/>
              <a:t> </a:t>
            </a:r>
            <a:r>
              <a:rPr sz="1400" dirty="0" err="1"/>
              <a:t>trung</a:t>
            </a:r>
            <a:r>
              <a:rPr sz="1400" dirty="0"/>
              <a:t> </a:t>
            </a:r>
            <a:r>
              <a:rPr sz="1400" dirty="0" err="1"/>
              <a:t>gian</a:t>
            </a:r>
            <a:endParaRPr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1">
                <a:solidFill>
                  <a:srgbClr val="4FC3F7"/>
                </a:solidFill>
                <a:latin typeface="Consolas"/>
              </a:defRPr>
            </a:pPr>
            <a:r>
              <a:t>01 — NỘI DUNG CHÍNH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3000" b="1">
                <a:solidFill>
                  <a:srgbClr val="EDF0F5"/>
                </a:solidFill>
                <a:latin typeface="Segoe UI"/>
              </a:defRPr>
            </a:pPr>
            <a:r>
              <a:t>Tính năng vận hành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5029200" cy="484632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600" b="1">
                <a:solidFill>
                  <a:srgbClr val="EDF0F5"/>
                </a:solidFill>
                <a:latin typeface="Segoe UI"/>
              </a:defRPr>
            </a:pPr>
            <a:r>
              <a:t>Vận hành thực tế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64823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/>
              <a:t>  2 camera </a:t>
            </a:r>
            <a:r>
              <a:rPr dirty="0" err="1"/>
              <a:t>tách</a:t>
            </a:r>
            <a:r>
              <a:rPr dirty="0"/>
              <a:t> </a:t>
            </a:r>
            <a:r>
              <a:rPr dirty="0" err="1"/>
              <a:t>vai</a:t>
            </a:r>
            <a:r>
              <a:rPr dirty="0"/>
              <a:t> </a:t>
            </a:r>
            <a:r>
              <a:rPr dirty="0" err="1"/>
              <a:t>trò</a:t>
            </a:r>
            <a:r>
              <a:rPr dirty="0"/>
              <a:t>: 1 </a:t>
            </a:r>
            <a:r>
              <a:rPr dirty="0" err="1"/>
              <a:t>cổng</a:t>
            </a:r>
            <a:r>
              <a:rPr dirty="0"/>
              <a:t> </a:t>
            </a:r>
            <a:r>
              <a:rPr dirty="0" err="1"/>
              <a:t>vào</a:t>
            </a:r>
            <a:r>
              <a:rPr dirty="0"/>
              <a:t> (check-in), 1 </a:t>
            </a:r>
            <a:r>
              <a:rPr dirty="0" err="1"/>
              <a:t>cổng</a:t>
            </a:r>
            <a:r>
              <a:rPr dirty="0"/>
              <a:t> </a:t>
            </a:r>
            <a:r>
              <a:rPr dirty="0" err="1"/>
              <a:t>ra</a:t>
            </a:r>
            <a:r>
              <a:rPr dirty="0"/>
              <a:t> (check-out) — </a:t>
            </a:r>
            <a:r>
              <a:rPr dirty="0" err="1"/>
              <a:t>ghi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</a:t>
            </a:r>
            <a:r>
              <a:rPr dirty="0" err="1"/>
              <a:t>thao</a:t>
            </a:r>
            <a:r>
              <a:rPr dirty="0"/>
              <a:t> </a:t>
            </a:r>
            <a:r>
              <a:rPr dirty="0" err="1"/>
              <a:t>tác</a:t>
            </a:r>
            <a:endParaRPr dirty="0"/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/>
              <a:t>  </a:t>
            </a:r>
            <a:r>
              <a:rPr dirty="0" err="1"/>
              <a:t>Thêm</a:t>
            </a:r>
            <a:r>
              <a:rPr dirty="0"/>
              <a:t>/</a:t>
            </a:r>
            <a:r>
              <a:rPr dirty="0" err="1"/>
              <a:t>xoá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 </a:t>
            </a:r>
            <a:r>
              <a:rPr dirty="0" err="1"/>
              <a:t>chỉ</a:t>
            </a:r>
            <a:r>
              <a:rPr dirty="0"/>
              <a:t> </a:t>
            </a:r>
            <a:r>
              <a:rPr dirty="0" err="1"/>
              <a:t>mất</a:t>
            </a:r>
            <a:r>
              <a:rPr dirty="0"/>
              <a:t> </a:t>
            </a:r>
            <a:r>
              <a:rPr dirty="0" err="1"/>
              <a:t>vài</a:t>
            </a:r>
            <a:r>
              <a:rPr dirty="0"/>
              <a:t> </a:t>
            </a:r>
            <a:r>
              <a:rPr dirty="0" err="1"/>
              <a:t>giây</a:t>
            </a:r>
            <a:r>
              <a:rPr dirty="0"/>
              <a:t>,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cần</a:t>
            </a:r>
            <a:r>
              <a:rPr dirty="0"/>
              <a:t> train </a:t>
            </a:r>
            <a:r>
              <a:rPr dirty="0" err="1"/>
              <a:t>lại</a:t>
            </a:r>
            <a:r>
              <a:rPr dirty="0"/>
              <a:t> </a:t>
            </a:r>
            <a:r>
              <a:rPr dirty="0" err="1"/>
              <a:t>mô</a:t>
            </a:r>
            <a:r>
              <a:rPr dirty="0"/>
              <a:t> </a:t>
            </a:r>
            <a:r>
              <a:rPr dirty="0" err="1"/>
              <a:t>hình</a:t>
            </a:r>
            <a:endParaRPr dirty="0"/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/>
              <a:t>  Web UI </a:t>
            </a:r>
            <a:r>
              <a:rPr dirty="0" err="1"/>
              <a:t>giám</a:t>
            </a:r>
            <a:r>
              <a:rPr dirty="0"/>
              <a:t> </a:t>
            </a:r>
            <a:r>
              <a:rPr dirty="0" err="1"/>
              <a:t>sát</a:t>
            </a:r>
            <a:r>
              <a:rPr dirty="0"/>
              <a:t> </a:t>
            </a:r>
            <a:r>
              <a:rPr dirty="0" err="1"/>
              <a:t>trực</a:t>
            </a:r>
            <a:r>
              <a:rPr dirty="0"/>
              <a:t> </a:t>
            </a:r>
            <a:r>
              <a:rPr dirty="0" err="1"/>
              <a:t>tiếp</a:t>
            </a:r>
            <a:r>
              <a:rPr dirty="0"/>
              <a:t> 2 camera,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người</a:t>
            </a:r>
            <a:r>
              <a:rPr dirty="0"/>
              <a:t>, </a:t>
            </a:r>
            <a:r>
              <a:rPr dirty="0" err="1"/>
              <a:t>chỉnh</a:t>
            </a:r>
            <a:r>
              <a:rPr dirty="0"/>
              <a:t> </a:t>
            </a:r>
            <a:r>
              <a:rPr dirty="0" err="1"/>
              <a:t>ngưỡng</a:t>
            </a:r>
            <a:r>
              <a:rPr dirty="0"/>
              <a:t> </a:t>
            </a:r>
            <a:r>
              <a:rPr dirty="0" err="1"/>
              <a:t>nhận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ngay</a:t>
            </a:r>
            <a:r>
              <a:rPr dirty="0"/>
              <a:t> </a:t>
            </a:r>
            <a:r>
              <a:rPr dirty="0" err="1"/>
              <a:t>trên</a:t>
            </a:r>
            <a:r>
              <a:rPr dirty="0"/>
              <a:t> </a:t>
            </a:r>
            <a:r>
              <a:rPr dirty="0" err="1"/>
              <a:t>trình</a:t>
            </a:r>
            <a:r>
              <a:rPr dirty="0"/>
              <a:t> </a:t>
            </a:r>
            <a:r>
              <a:rPr dirty="0" err="1"/>
              <a:t>duyệt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6400800" y="1508760"/>
            <a:ext cx="5029200" cy="484632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600" b="1">
                <a:solidFill>
                  <a:srgbClr val="EDF0F5"/>
                </a:solidFill>
                <a:latin typeface="Segoe UI"/>
              </a:defRPr>
            </a:pPr>
            <a:r>
              <a:rPr dirty="0"/>
              <a:t>Báo </a:t>
            </a:r>
            <a:r>
              <a:rPr dirty="0" err="1"/>
              <a:t>cáo</a:t>
            </a:r>
            <a:r>
              <a:rPr dirty="0"/>
              <a:t> &amp; </a:t>
            </a:r>
            <a:r>
              <a:rPr dirty="0" err="1"/>
              <a:t>khả</a:t>
            </a:r>
            <a:r>
              <a:rPr dirty="0"/>
              <a:t> </a:t>
            </a:r>
            <a:r>
              <a:rPr dirty="0" err="1"/>
              <a:t>năng</a:t>
            </a:r>
            <a:r>
              <a:rPr dirty="0"/>
              <a:t> </a:t>
            </a:r>
            <a:r>
              <a:rPr dirty="0" err="1"/>
              <a:t>chạy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675120" y="2560320"/>
            <a:ext cx="45720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/>
              <a:t>  </a:t>
            </a:r>
            <a:r>
              <a:rPr dirty="0" err="1"/>
              <a:t>Xuất</a:t>
            </a:r>
            <a:r>
              <a:rPr dirty="0"/>
              <a:t> Excel </a:t>
            </a:r>
            <a:r>
              <a:rPr dirty="0" err="1"/>
              <a:t>chấm</a:t>
            </a:r>
            <a:r>
              <a:rPr dirty="0"/>
              <a:t> </a:t>
            </a:r>
            <a:r>
              <a:rPr dirty="0" err="1"/>
              <a:t>công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Ngày</a:t>
            </a:r>
            <a:r>
              <a:rPr dirty="0"/>
              <a:t> / </a:t>
            </a:r>
            <a:r>
              <a:rPr dirty="0" err="1"/>
              <a:t>Tuần</a:t>
            </a:r>
            <a:r>
              <a:rPr dirty="0"/>
              <a:t> / </a:t>
            </a:r>
            <a:r>
              <a:rPr dirty="0" err="1"/>
              <a:t>Tháng</a:t>
            </a:r>
            <a:r>
              <a:rPr dirty="0"/>
              <a:t>, 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động</a:t>
            </a:r>
            <a:r>
              <a:rPr dirty="0"/>
              <a:t>, 2 </a:t>
            </a:r>
            <a:r>
              <a:rPr dirty="0" err="1"/>
              <a:t>chế</a:t>
            </a:r>
            <a:r>
              <a:rPr dirty="0"/>
              <a:t> </a:t>
            </a:r>
            <a:r>
              <a:rPr dirty="0" err="1"/>
              <a:t>độ</a:t>
            </a:r>
            <a:r>
              <a:rPr dirty="0"/>
              <a:t> (</a:t>
            </a:r>
            <a:r>
              <a:rPr dirty="0" err="1"/>
              <a:t>đầy</a:t>
            </a:r>
            <a:r>
              <a:rPr dirty="0"/>
              <a:t> </a:t>
            </a:r>
            <a:r>
              <a:rPr dirty="0" err="1"/>
              <a:t>đủ</a:t>
            </a:r>
            <a:r>
              <a:rPr dirty="0"/>
              <a:t> </a:t>
            </a:r>
            <a:r>
              <a:rPr dirty="0" err="1"/>
              <a:t>hoặc</a:t>
            </a:r>
            <a:r>
              <a:rPr dirty="0"/>
              <a:t> </a:t>
            </a:r>
            <a:r>
              <a:rPr dirty="0" err="1"/>
              <a:t>rút</a:t>
            </a:r>
            <a:r>
              <a:rPr dirty="0"/>
              <a:t> </a:t>
            </a:r>
            <a:r>
              <a:rPr dirty="0" err="1"/>
              <a:t>gọn</a:t>
            </a:r>
            <a:r>
              <a:rPr dirty="0"/>
              <a:t>)</a:t>
            </a:r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/>
              <a:t> 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cả</a:t>
            </a:r>
            <a:r>
              <a:rPr dirty="0"/>
              <a:t> </a:t>
            </a:r>
            <a:r>
              <a:rPr dirty="0" err="1"/>
              <a:t>khi</a:t>
            </a:r>
            <a:r>
              <a:rPr dirty="0"/>
              <a:t> </a:t>
            </a: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card </a:t>
            </a:r>
            <a:r>
              <a:rPr dirty="0" err="1"/>
              <a:t>đồ</a:t>
            </a:r>
            <a:r>
              <a:rPr dirty="0"/>
              <a:t> </a:t>
            </a:r>
            <a:r>
              <a:rPr dirty="0" err="1"/>
              <a:t>hoạ</a:t>
            </a:r>
            <a:r>
              <a:rPr dirty="0"/>
              <a:t> </a:t>
            </a:r>
            <a:r>
              <a:rPr dirty="0" err="1"/>
              <a:t>rời</a:t>
            </a:r>
            <a:r>
              <a:rPr dirty="0"/>
              <a:t> (</a:t>
            </a:r>
            <a:r>
              <a:rPr dirty="0" err="1"/>
              <a:t>tự</a:t>
            </a:r>
            <a:r>
              <a:rPr dirty="0"/>
              <a:t> </a:t>
            </a:r>
            <a:r>
              <a:rPr dirty="0" err="1"/>
              <a:t>giảm</a:t>
            </a:r>
            <a:r>
              <a:rPr dirty="0"/>
              <a:t> </a:t>
            </a:r>
            <a:r>
              <a:rPr dirty="0" err="1"/>
              <a:t>tải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)</a:t>
            </a:r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400">
                <a:solidFill>
                  <a:srgbClr val="D5DAE3"/>
                </a:solidFill>
                <a:latin typeface="Segoe UI"/>
              </a:defRPr>
            </a:pPr>
            <a:r>
              <a:rPr dirty="0"/>
              <a:t>  </a:t>
            </a:r>
            <a:r>
              <a:rPr dirty="0" err="1"/>
              <a:t>Tận</a:t>
            </a:r>
            <a:r>
              <a:rPr dirty="0"/>
              <a:t> </a:t>
            </a:r>
            <a:r>
              <a:rPr dirty="0" err="1"/>
              <a:t>dụng</a:t>
            </a:r>
            <a:r>
              <a:rPr dirty="0"/>
              <a:t> </a:t>
            </a:r>
            <a:r>
              <a:rPr dirty="0" err="1"/>
              <a:t>phần</a:t>
            </a:r>
            <a:r>
              <a:rPr dirty="0"/>
              <a:t> </a:t>
            </a:r>
            <a:r>
              <a:rPr dirty="0" err="1"/>
              <a:t>cứng</a:t>
            </a:r>
            <a:r>
              <a:rPr dirty="0"/>
              <a:t> Intel </a:t>
            </a:r>
            <a:r>
              <a:rPr dirty="0" err="1"/>
              <a:t>để</a:t>
            </a:r>
            <a:r>
              <a:rPr dirty="0"/>
              <a:t> </a:t>
            </a:r>
            <a:r>
              <a:rPr dirty="0" err="1"/>
              <a:t>tăng</a:t>
            </a:r>
            <a:r>
              <a:rPr dirty="0"/>
              <a:t> </a:t>
            </a:r>
            <a:r>
              <a:rPr dirty="0" err="1"/>
              <a:t>tốc</a:t>
            </a:r>
            <a:r>
              <a:rPr dirty="0"/>
              <a:t>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nếu</a:t>
            </a:r>
            <a:r>
              <a:rPr dirty="0"/>
              <a:t> </a:t>
            </a:r>
            <a:r>
              <a:rPr dirty="0" err="1"/>
              <a:t>máy</a:t>
            </a:r>
            <a:r>
              <a:rPr dirty="0"/>
              <a:t> </a:t>
            </a:r>
            <a:r>
              <a:rPr dirty="0" err="1"/>
              <a:t>có</a:t>
            </a:r>
            <a:r>
              <a:rPr dirty="0"/>
              <a:t> </a:t>
            </a:r>
            <a:r>
              <a:rPr dirty="0" err="1"/>
              <a:t>sẵn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1">
                <a:solidFill>
                  <a:srgbClr val="4FC3F7"/>
                </a:solidFill>
                <a:latin typeface="Consolas"/>
              </a:defRPr>
            </a:pPr>
            <a:r>
              <a:t>02 — KẾT QUẢ ĐẠT ĐƯỢC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3000" b="1">
                <a:solidFill>
                  <a:srgbClr val="EDF0F5"/>
                </a:solidFill>
                <a:latin typeface="Segoe UI"/>
              </a:defRPr>
            </a:pPr>
            <a:r>
              <a:t>Số liệu đánh giá nhận diện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5029200" cy="484632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400" b="1">
                <a:solidFill>
                  <a:srgbClr val="EDF0F5"/>
                </a:solidFill>
                <a:latin typeface="Segoe UI"/>
              </a:defRPr>
            </a:pPr>
            <a:r>
              <a:t>Kết quả trên tập test (118/127 mặt embed được)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1">
                <a:solidFill>
                  <a:srgbClr val="EDF0F5"/>
                </a:solidFill>
                <a:latin typeface="Segoe UI"/>
              </a:defRPr>
            </a:pPr>
            <a:r>
              <a:t>Ngưỡng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210312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1">
                <a:solidFill>
                  <a:srgbClr val="EDF0F5"/>
                </a:solidFill>
                <a:latin typeface="Segoe UI"/>
              </a:defRPr>
            </a:pPr>
            <a:r>
              <a:t>Đúng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10312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1">
                <a:solidFill>
                  <a:srgbClr val="EDF0F5"/>
                </a:solidFill>
                <a:latin typeface="Segoe UI"/>
              </a:defRPr>
            </a:pPr>
            <a:r>
              <a:t>Nhầm tên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19" y="210312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1">
                <a:solidFill>
                  <a:srgbClr val="EDF0F5"/>
                </a:solidFill>
                <a:latin typeface="Segoe UI"/>
              </a:defRPr>
            </a:pPr>
            <a:r>
              <a:t>Gọi nhầm lạ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42316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0.25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42316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00C853"/>
                </a:solidFill>
                <a:latin typeface="Consolas"/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42316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19" y="242316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74320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0.28*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74320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00C853"/>
                </a:solidFill>
                <a:latin typeface="Consolas"/>
              </a:defRPr>
            </a:pPr>
            <a:r>
              <a:t>99.2%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19" y="274320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063239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0.30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063239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99.2%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063239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19" y="3063239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338328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0.35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38328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99.2%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38328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19" y="338328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370332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0.40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70332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96.6%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70332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19" y="370332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404048"/>
            <a:ext cx="4572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defRPr sz="1200" b="0">
                <a:solidFill>
                  <a:srgbClr val="6B7A8D"/>
                </a:solidFill>
                <a:latin typeface="Segoe UI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* 0.28 =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ngưỡng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đang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dùng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thật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trong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hệ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thống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.</a:t>
            </a:r>
            <a:br>
              <a:rPr dirty="0">
                <a:solidFill>
                  <a:schemeClr val="bg1">
                    <a:lumMod val="85000"/>
                  </a:schemeClr>
                </a:solidFill>
              </a:rPr>
            </a:b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05840" y="4960620"/>
            <a:ext cx="4572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defRPr sz="1100" b="0">
                <a:solidFill>
                  <a:srgbClr val="6B7A8D"/>
                </a:solidFill>
                <a:latin typeface="Segoe UI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Dataset pilot: 5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người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, 60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mẫu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đăng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ký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/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người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, 118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ảnh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test </a:t>
            </a:r>
            <a:br>
              <a:rPr dirty="0">
                <a:solidFill>
                  <a:schemeClr val="bg1">
                    <a:lumMod val="85000"/>
                  </a:schemeClr>
                </a:solidFill>
              </a:rPr>
            </a:b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quy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mô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đã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kiểm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thử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thực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tế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trong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thời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gian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thực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tập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,</a:t>
            </a:r>
            <a:br>
              <a:rPr dirty="0">
                <a:solidFill>
                  <a:schemeClr val="bg1">
                    <a:lumMod val="85000"/>
                  </a:schemeClr>
                </a:solidFill>
              </a:rPr>
            </a:b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chưa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phải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quy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mô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production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hàng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trăm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người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1508760"/>
            <a:ext cx="5029200" cy="484632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0" y="1645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400" b="1">
                <a:solidFill>
                  <a:srgbClr val="EDF0F5"/>
                </a:solidFill>
                <a:latin typeface="Segoe UI"/>
              </a:defRPr>
            </a:pPr>
            <a:r>
              <a:t>Chi tiết theo từng người (ngưỡng 0.28)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14884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1">
                <a:solidFill>
                  <a:srgbClr val="EDF0F5"/>
                </a:solidFill>
                <a:latin typeface="Segoe UI"/>
              </a:defRPr>
            </a:pPr>
            <a:r>
              <a:t>Người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80" y="214884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1">
                <a:solidFill>
                  <a:srgbClr val="EDF0F5"/>
                </a:solidFill>
                <a:latin typeface="Segoe UI"/>
              </a:defRPr>
            </a:pPr>
            <a:r>
              <a:t>Số ảnh test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214884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1">
                <a:solidFill>
                  <a:srgbClr val="EDF0F5"/>
                </a:solidFill>
                <a:latin typeface="Segoe UI"/>
              </a:defRPr>
            </a:pPr>
            <a:r>
              <a:t>Nhận đúng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799" y="214884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1">
                <a:solidFill>
                  <a:srgbClr val="EDF0F5"/>
                </a:solidFill>
                <a:latin typeface="Segoe UI"/>
              </a:defRPr>
            </a:pPr>
            <a:r>
              <a:t>Tỷ lệ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246888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nghia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80" y="246888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16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246888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799" y="246888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278892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quan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26680" y="278892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32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278892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32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799" y="278892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100%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3108959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son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26680" y="3108959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3108959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16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29799" y="3108959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100%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342900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tri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26680" y="342900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34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342900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33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799" y="342900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97.1%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374904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tui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26680" y="374904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8240" y="374904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9799" y="3749040"/>
            <a:ext cx="1051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1200" b="0">
                <a:solidFill>
                  <a:srgbClr val="D5DAE3"/>
                </a:solidFill>
                <a:latin typeface="Consolas"/>
              </a:defRPr>
            </a:pPr>
            <a:r>
              <a:t>100%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4187952"/>
            <a:ext cx="4572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40000"/>
              </a:lnSpc>
              <a:defRPr sz="1200" b="0">
                <a:solidFill>
                  <a:srgbClr val="6B7A8D"/>
                </a:solidFill>
                <a:latin typeface="Segoe UI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4/5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người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đạt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100% 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algn="l">
              <a:lnSpc>
                <a:spcPct val="140000"/>
              </a:lnSpc>
              <a:defRPr sz="1200" b="0">
                <a:solidFill>
                  <a:srgbClr val="6B7A8D"/>
                </a:solidFill>
                <a:latin typeface="Segoe UI"/>
              </a:defRPr>
            </a:pPr>
            <a:r>
              <a:rPr dirty="0">
                <a:solidFill>
                  <a:schemeClr val="bg1">
                    <a:lumMod val="85000"/>
                  </a:schemeClr>
                </a:solidFill>
              </a:rPr>
              <a:t>Trường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hợp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duy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nhất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sai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là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"tri"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bị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gọi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nhầm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thành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"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lạ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" 1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lần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(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không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phải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nhầm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sang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người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khác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75120" y="5212080"/>
            <a:ext cx="45720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5000"/>
              </a:lnSpc>
              <a:defRPr sz="1100" b="0">
                <a:solidFill>
                  <a:srgbClr val="6B7A8D"/>
                </a:solidFill>
                <a:latin typeface="Segoe UI"/>
              </a:defRPr>
            </a:pPr>
            <a:r>
              <a:rPr lang="en-US" dirty="0" err="1">
                <a:solidFill>
                  <a:schemeClr val="bg1">
                    <a:lumMod val="85000"/>
                  </a:schemeClr>
                </a:solidFill>
              </a:rPr>
              <a:t>Ảnh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test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ArcFace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không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tạo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được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embedding (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góc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chụp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/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ảnh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mờ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)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không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tính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vào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bảng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được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xem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là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không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xử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lý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được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1">
                <a:solidFill>
                  <a:srgbClr val="4FC3F7"/>
                </a:solidFill>
                <a:latin typeface="Consolas"/>
              </a:defRPr>
            </a:pPr>
            <a:r>
              <a:t>02 — KẾT QUẢ ĐẠT ĐƯỢC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3000" b="1">
                <a:solidFill>
                  <a:srgbClr val="EDF0F5"/>
                </a:solidFill>
                <a:latin typeface="Segoe UI"/>
              </a:defRPr>
            </a:pPr>
            <a:r>
              <a:t>Bằng chứng vận hành thực tế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5029200" cy="484632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600" b="1">
                <a:solidFill>
                  <a:srgbClr val="00C853"/>
                </a:solidFill>
                <a:latin typeface="Segoe UI"/>
              </a:defRPr>
            </a:pP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thật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3817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</a:t>
            </a:r>
            <a:r>
              <a:rPr sz="1400" dirty="0" err="1"/>
              <a:t>Đã</a:t>
            </a:r>
            <a:r>
              <a:rPr sz="1400" dirty="0"/>
              <a:t> </a:t>
            </a:r>
            <a:r>
              <a:rPr sz="1400" dirty="0" err="1"/>
              <a:t>thêm</a:t>
            </a:r>
            <a:r>
              <a:rPr sz="1400" dirty="0"/>
              <a:t> </a:t>
            </a:r>
            <a:r>
              <a:rPr sz="1400" dirty="0" err="1"/>
              <a:t>thành</a:t>
            </a:r>
            <a:r>
              <a:rPr sz="1400" dirty="0"/>
              <a:t> </a:t>
            </a:r>
            <a:r>
              <a:rPr sz="1400" dirty="0" err="1"/>
              <a:t>công</a:t>
            </a:r>
            <a:r>
              <a:rPr sz="1400" dirty="0"/>
              <a:t> 1 </a:t>
            </a:r>
            <a:r>
              <a:rPr sz="1400" dirty="0" err="1"/>
              <a:t>người</a:t>
            </a:r>
            <a:r>
              <a:rPr sz="1400" dirty="0"/>
              <a:t> </a:t>
            </a:r>
            <a:r>
              <a:rPr sz="1400" dirty="0" err="1"/>
              <a:t>mới</a:t>
            </a:r>
            <a:r>
              <a:rPr sz="1400" dirty="0"/>
              <a:t> ("a </a:t>
            </a:r>
            <a:r>
              <a:rPr sz="1400" dirty="0" err="1"/>
              <a:t>phuong</a:t>
            </a:r>
            <a:r>
              <a:rPr sz="1400" dirty="0"/>
              <a:t>") </a:t>
            </a:r>
            <a:r>
              <a:rPr sz="1400" dirty="0" err="1"/>
              <a:t>ngay</a:t>
            </a:r>
            <a:r>
              <a:rPr sz="1400" dirty="0"/>
              <a:t> </a:t>
            </a:r>
            <a:r>
              <a:rPr sz="1400" dirty="0" err="1"/>
              <a:t>khi</a:t>
            </a:r>
            <a:r>
              <a:rPr sz="1400" dirty="0"/>
              <a:t> </a:t>
            </a:r>
            <a:r>
              <a:rPr sz="1400" dirty="0" err="1"/>
              <a:t>hệ</a:t>
            </a:r>
            <a:r>
              <a:rPr sz="1400" dirty="0"/>
              <a:t> </a:t>
            </a:r>
            <a:r>
              <a:rPr sz="1400" dirty="0" err="1"/>
              <a:t>thống</a:t>
            </a:r>
            <a:r>
              <a:rPr sz="1400" dirty="0"/>
              <a:t> </a:t>
            </a:r>
            <a:r>
              <a:rPr sz="1400" dirty="0" err="1"/>
              <a:t>đang</a:t>
            </a:r>
            <a:r>
              <a:rPr sz="1400" dirty="0"/>
              <a:t> </a:t>
            </a:r>
            <a:r>
              <a:rPr sz="1400" dirty="0" err="1"/>
              <a:t>chạy</a:t>
            </a:r>
            <a:r>
              <a:rPr sz="1400" dirty="0"/>
              <a:t> qua Web UI, </a:t>
            </a:r>
            <a:r>
              <a:rPr sz="1400" dirty="0" err="1"/>
              <a:t>không</a:t>
            </a:r>
            <a:r>
              <a:rPr sz="1400" dirty="0"/>
              <a:t> </a:t>
            </a:r>
            <a:r>
              <a:rPr sz="1400" dirty="0" err="1"/>
              <a:t>cần</a:t>
            </a:r>
            <a:r>
              <a:rPr sz="1400" dirty="0"/>
              <a:t> restart hay train </a:t>
            </a:r>
            <a:r>
              <a:rPr sz="1400" dirty="0" err="1"/>
              <a:t>lại</a:t>
            </a:r>
            <a:r>
              <a:rPr sz="1400" dirty="0"/>
              <a:t>  DB </a:t>
            </a:r>
            <a:r>
              <a:rPr sz="1400" dirty="0" err="1"/>
              <a:t>thực</a:t>
            </a:r>
            <a:r>
              <a:rPr sz="1400" dirty="0"/>
              <a:t> </a:t>
            </a:r>
            <a:r>
              <a:rPr sz="1400" dirty="0" err="1"/>
              <a:t>tế</a:t>
            </a:r>
            <a:r>
              <a:rPr sz="1400" dirty="0"/>
              <a:t> </a:t>
            </a:r>
            <a:r>
              <a:rPr sz="1400" dirty="0" err="1"/>
              <a:t>hiện</a:t>
            </a:r>
            <a:r>
              <a:rPr sz="1400" dirty="0"/>
              <a:t> </a:t>
            </a:r>
            <a:r>
              <a:rPr sz="1400" dirty="0" err="1"/>
              <a:t>có</a:t>
            </a:r>
            <a:r>
              <a:rPr sz="1400" dirty="0"/>
              <a:t> 6 </a:t>
            </a:r>
            <a:r>
              <a:rPr sz="1400" dirty="0" err="1"/>
              <a:t>người</a:t>
            </a:r>
            <a:r>
              <a:rPr sz="1400" dirty="0"/>
              <a:t>, </a:t>
            </a:r>
            <a:r>
              <a:rPr sz="1400" dirty="0" err="1"/>
              <a:t>không</a:t>
            </a:r>
            <a:r>
              <a:rPr sz="1400" dirty="0"/>
              <a:t> </a:t>
            </a:r>
            <a:r>
              <a:rPr sz="1400" dirty="0" err="1"/>
              <a:t>chỉ</a:t>
            </a:r>
            <a:r>
              <a:rPr sz="1400" dirty="0"/>
              <a:t> 5 </a:t>
            </a:r>
            <a:r>
              <a:rPr sz="1400" dirty="0" err="1"/>
              <a:t>người</a:t>
            </a:r>
            <a:r>
              <a:rPr sz="1400" dirty="0"/>
              <a:t> </a:t>
            </a:r>
            <a:r>
              <a:rPr sz="1400" dirty="0" err="1"/>
              <a:t>lúc</a:t>
            </a:r>
            <a:r>
              <a:rPr sz="1400" dirty="0"/>
              <a:t> train ban </a:t>
            </a:r>
            <a:r>
              <a:rPr sz="1400" dirty="0" err="1"/>
              <a:t>đầu</a:t>
            </a:r>
            <a:endParaRPr sz="1400" dirty="0"/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</a:t>
            </a:r>
            <a:r>
              <a:rPr sz="1400" dirty="0" err="1"/>
              <a:t>Đã</a:t>
            </a:r>
            <a:r>
              <a:rPr sz="1400" dirty="0"/>
              <a:t> </a:t>
            </a:r>
            <a:r>
              <a:rPr sz="1400" dirty="0" err="1"/>
              <a:t>kiểm</a:t>
            </a:r>
            <a:r>
              <a:rPr sz="1400" dirty="0"/>
              <a:t> </a:t>
            </a:r>
            <a:r>
              <a:rPr sz="1400" dirty="0" err="1"/>
              <a:t>tra</a:t>
            </a:r>
            <a:r>
              <a:rPr sz="1400" dirty="0"/>
              <a:t> </a:t>
            </a:r>
            <a:r>
              <a:rPr sz="1400" dirty="0" err="1"/>
              <a:t>thành</a:t>
            </a:r>
            <a:r>
              <a:rPr sz="1400" dirty="0"/>
              <a:t> </a:t>
            </a:r>
            <a:r>
              <a:rPr sz="1400" dirty="0" err="1"/>
              <a:t>công</a:t>
            </a:r>
            <a:r>
              <a:rPr sz="1400" dirty="0"/>
              <a:t> </a:t>
            </a:r>
            <a:r>
              <a:rPr sz="1400" dirty="0" err="1"/>
              <a:t>cả</a:t>
            </a:r>
            <a:r>
              <a:rPr sz="1400" dirty="0"/>
              <a:t> 3 </a:t>
            </a:r>
            <a:r>
              <a:rPr sz="1400" dirty="0" err="1"/>
              <a:t>trạng</a:t>
            </a:r>
            <a:r>
              <a:rPr sz="1400" dirty="0"/>
              <a:t> </a:t>
            </a:r>
            <a:r>
              <a:rPr sz="1400" dirty="0" err="1"/>
              <a:t>thái</a:t>
            </a:r>
            <a:r>
              <a:rPr sz="1400" dirty="0"/>
              <a:t> </a:t>
            </a:r>
            <a:r>
              <a:rPr sz="1400" dirty="0" err="1"/>
              <a:t>đèn</a:t>
            </a:r>
            <a:r>
              <a:rPr sz="1400" dirty="0"/>
              <a:t> </a:t>
            </a:r>
            <a:r>
              <a:rPr sz="1400" dirty="0" err="1"/>
              <a:t>tháp</a:t>
            </a:r>
            <a:r>
              <a:rPr sz="1400" dirty="0"/>
              <a:t> (</a:t>
            </a:r>
            <a:r>
              <a:rPr sz="1400" dirty="0" err="1"/>
              <a:t>xanh</a:t>
            </a:r>
            <a:r>
              <a:rPr sz="1400" dirty="0"/>
              <a:t> / </a:t>
            </a:r>
            <a:r>
              <a:rPr sz="1400" dirty="0" err="1"/>
              <a:t>vàng</a:t>
            </a:r>
            <a:r>
              <a:rPr sz="1400" dirty="0"/>
              <a:t> / </a:t>
            </a:r>
            <a:r>
              <a:rPr sz="1400" dirty="0" err="1"/>
              <a:t>đỏ</a:t>
            </a:r>
            <a:r>
              <a:rPr sz="1400" dirty="0"/>
              <a:t>) qua </a:t>
            </a:r>
            <a:r>
              <a:rPr sz="1400" dirty="0" err="1"/>
              <a:t>kết</a:t>
            </a:r>
            <a:r>
              <a:rPr sz="1400" dirty="0"/>
              <a:t> </a:t>
            </a:r>
            <a:r>
              <a:rPr sz="1400" dirty="0" err="1"/>
              <a:t>nối</a:t>
            </a:r>
            <a:r>
              <a:rPr sz="1400" dirty="0"/>
              <a:t> TCP </a:t>
            </a:r>
            <a:r>
              <a:rPr sz="1400" dirty="0" err="1"/>
              <a:t>thật</a:t>
            </a:r>
            <a:r>
              <a:rPr sz="1400" dirty="0"/>
              <a:t> </a:t>
            </a:r>
            <a:r>
              <a:rPr sz="1400" dirty="0" err="1"/>
              <a:t>tới</a:t>
            </a:r>
            <a:r>
              <a:rPr sz="1400" dirty="0"/>
              <a:t> PLC — log </a:t>
            </a:r>
            <a:r>
              <a:rPr sz="1400" dirty="0" err="1"/>
              <a:t>ghi</a:t>
            </a:r>
            <a:r>
              <a:rPr sz="1400" dirty="0"/>
              <a:t> </a:t>
            </a:r>
            <a:r>
              <a:rPr sz="1400" dirty="0" err="1"/>
              <a:t>nhận</a:t>
            </a:r>
            <a:r>
              <a:rPr sz="1400" dirty="0"/>
              <a:t> </a:t>
            </a:r>
            <a:r>
              <a:rPr sz="1400" dirty="0" err="1"/>
              <a:t>đúng</a:t>
            </a:r>
            <a:r>
              <a:rPr sz="1400" dirty="0"/>
              <a:t> </a:t>
            </a:r>
            <a:r>
              <a:rPr sz="1400" dirty="0" err="1"/>
              <a:t>lệnh</a:t>
            </a:r>
            <a:r>
              <a:rPr sz="1400" dirty="0"/>
              <a:t> </a:t>
            </a:r>
            <a:r>
              <a:rPr sz="1400" dirty="0" err="1"/>
              <a:t>bật</a:t>
            </a:r>
            <a:r>
              <a:rPr sz="1400" dirty="0"/>
              <a:t>/</a:t>
            </a:r>
            <a:r>
              <a:rPr sz="1400" dirty="0" err="1"/>
              <a:t>tắt</a:t>
            </a:r>
            <a:r>
              <a:rPr sz="1400" dirty="0"/>
              <a:t> </a:t>
            </a:r>
            <a:r>
              <a:rPr sz="1400" dirty="0" err="1"/>
              <a:t>từng</a:t>
            </a:r>
            <a:r>
              <a:rPr sz="1400" dirty="0"/>
              <a:t> </a:t>
            </a:r>
            <a:r>
              <a:rPr sz="1400" dirty="0" err="1"/>
              <a:t>màu</a:t>
            </a:r>
            <a:r>
              <a:rPr sz="1400" dirty="0"/>
              <a:t> </a:t>
            </a:r>
            <a:r>
              <a:rPr sz="1400" dirty="0" err="1"/>
              <a:t>theo</a:t>
            </a:r>
            <a:r>
              <a:rPr sz="1400" dirty="0"/>
              <a:t> </a:t>
            </a:r>
            <a:r>
              <a:rPr sz="1400" dirty="0" err="1"/>
              <a:t>từng</a:t>
            </a:r>
            <a:r>
              <a:rPr sz="1400" dirty="0"/>
              <a:t> </a:t>
            </a:r>
            <a:r>
              <a:rPr sz="1400" dirty="0" err="1"/>
              <a:t>trạng</a:t>
            </a:r>
            <a:r>
              <a:rPr sz="1400" dirty="0"/>
              <a:t> </a:t>
            </a:r>
            <a:r>
              <a:rPr sz="1400" dirty="0" err="1"/>
              <a:t>thái</a:t>
            </a:r>
            <a:r>
              <a:rPr sz="1400" dirty="0"/>
              <a:t> </a:t>
            </a:r>
            <a:r>
              <a:rPr sz="1400" dirty="0" err="1"/>
              <a:t>nhận</a:t>
            </a:r>
            <a:r>
              <a:rPr sz="1400" dirty="0"/>
              <a:t> </a:t>
            </a:r>
            <a:r>
              <a:rPr sz="1400" dirty="0" err="1"/>
              <a:t>diện</a:t>
            </a:r>
            <a:endParaRPr sz="1400" dirty="0"/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</a:t>
            </a:r>
            <a:r>
              <a:rPr sz="1400" dirty="0" err="1"/>
              <a:t>Hệ</a:t>
            </a:r>
            <a:r>
              <a:rPr sz="1400" dirty="0"/>
              <a:t> </a:t>
            </a:r>
            <a:r>
              <a:rPr sz="1400" dirty="0" err="1"/>
              <a:t>thống</a:t>
            </a:r>
            <a:r>
              <a:rPr sz="1400" dirty="0"/>
              <a:t> </a:t>
            </a:r>
            <a:r>
              <a:rPr sz="1400" dirty="0" err="1"/>
              <a:t>tự</a:t>
            </a:r>
            <a:r>
              <a:rPr sz="1400" dirty="0"/>
              <a:t> </a:t>
            </a:r>
            <a:r>
              <a:rPr sz="1400" dirty="0" err="1"/>
              <a:t>kết</a:t>
            </a:r>
            <a:r>
              <a:rPr sz="1400" dirty="0"/>
              <a:t> </a:t>
            </a:r>
            <a:r>
              <a:rPr sz="1400" dirty="0" err="1"/>
              <a:t>nối</a:t>
            </a:r>
            <a:r>
              <a:rPr sz="1400" dirty="0"/>
              <a:t> </a:t>
            </a:r>
            <a:r>
              <a:rPr sz="1400" dirty="0" err="1"/>
              <a:t>lại</a:t>
            </a:r>
            <a:r>
              <a:rPr sz="1400" dirty="0"/>
              <a:t> PLC </a:t>
            </a:r>
            <a:r>
              <a:rPr sz="1400" dirty="0" err="1"/>
              <a:t>sau</a:t>
            </a:r>
            <a:r>
              <a:rPr sz="1400" dirty="0"/>
              <a:t> </a:t>
            </a:r>
            <a:r>
              <a:rPr sz="1400" dirty="0" err="1"/>
              <a:t>khi</a:t>
            </a:r>
            <a:r>
              <a:rPr sz="1400" dirty="0"/>
              <a:t> </a:t>
            </a:r>
            <a:r>
              <a:rPr sz="1400" dirty="0" err="1"/>
              <a:t>khởi</a:t>
            </a:r>
            <a:r>
              <a:rPr sz="1400" dirty="0"/>
              <a:t> </a:t>
            </a:r>
            <a:r>
              <a:rPr sz="1400" dirty="0" err="1"/>
              <a:t>động</a:t>
            </a:r>
            <a:r>
              <a:rPr sz="1400" dirty="0"/>
              <a:t> </a:t>
            </a:r>
            <a:r>
              <a:rPr sz="1400" dirty="0" err="1"/>
              <a:t>lại</a:t>
            </a:r>
            <a:r>
              <a:rPr sz="1400" dirty="0"/>
              <a:t>, </a:t>
            </a:r>
            <a:r>
              <a:rPr sz="1400" dirty="0" err="1"/>
              <a:t>không</a:t>
            </a:r>
            <a:r>
              <a:rPr sz="1400" dirty="0"/>
              <a:t> </a:t>
            </a:r>
            <a:r>
              <a:rPr sz="1400" dirty="0" err="1"/>
              <a:t>cần</a:t>
            </a:r>
            <a:r>
              <a:rPr sz="1400" dirty="0"/>
              <a:t> can </a:t>
            </a:r>
            <a:r>
              <a:rPr sz="1400" dirty="0" err="1"/>
              <a:t>thiệp</a:t>
            </a:r>
            <a:r>
              <a:rPr sz="1400" dirty="0"/>
              <a:t> </a:t>
            </a:r>
            <a:r>
              <a:rPr sz="1400" dirty="0" err="1"/>
              <a:t>thủ</a:t>
            </a:r>
            <a:r>
              <a:rPr sz="1400" dirty="0"/>
              <a:t> </a:t>
            </a:r>
            <a:r>
              <a:rPr sz="1400" dirty="0" err="1"/>
              <a:t>công</a:t>
            </a:r>
            <a:endParaRPr sz="1400" dirty="0"/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508760"/>
            <a:ext cx="5029200" cy="484632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600" b="1">
                <a:solidFill>
                  <a:srgbClr val="00C853"/>
                </a:solidFill>
                <a:latin typeface="Segoe UI"/>
              </a:defRPr>
            </a:pPr>
            <a:r>
              <a:rPr dirty="0" err="1"/>
              <a:t>Giá</a:t>
            </a:r>
            <a:r>
              <a:rPr dirty="0"/>
              <a:t> </a:t>
            </a:r>
            <a:r>
              <a:rPr dirty="0" err="1"/>
              <a:t>trị</a:t>
            </a:r>
            <a:r>
              <a:rPr dirty="0"/>
              <a:t> </a:t>
            </a:r>
            <a:r>
              <a:rPr dirty="0" err="1"/>
              <a:t>mang</a:t>
            </a:r>
            <a:r>
              <a:rPr dirty="0"/>
              <a:t> </a:t>
            </a:r>
            <a:r>
              <a:rPr dirty="0" err="1"/>
              <a:t>lại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572000" cy="3439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</a:t>
            </a:r>
            <a:r>
              <a:rPr sz="1400" dirty="0" err="1"/>
              <a:t>Hệ</a:t>
            </a:r>
            <a:r>
              <a:rPr sz="1400" dirty="0"/>
              <a:t> </a:t>
            </a:r>
            <a:r>
              <a:rPr sz="1400" dirty="0" err="1"/>
              <a:t>thống</a:t>
            </a:r>
            <a:r>
              <a:rPr sz="1400" dirty="0"/>
              <a:t> end-to-end </a:t>
            </a:r>
            <a:r>
              <a:rPr sz="1400" dirty="0" err="1"/>
              <a:t>hoàn</a:t>
            </a:r>
            <a:r>
              <a:rPr sz="1400" dirty="0"/>
              <a:t> </a:t>
            </a:r>
            <a:r>
              <a:rPr sz="1400" dirty="0" err="1"/>
              <a:t>chỉnh</a:t>
            </a:r>
            <a:r>
              <a:rPr sz="1400" dirty="0"/>
              <a:t>: camera → AI → PLC → </a:t>
            </a:r>
            <a:r>
              <a:rPr sz="1400" dirty="0" err="1"/>
              <a:t>đèn</a:t>
            </a:r>
            <a:r>
              <a:rPr sz="1400" dirty="0"/>
              <a:t> </a:t>
            </a:r>
            <a:r>
              <a:rPr sz="1400" dirty="0" err="1"/>
              <a:t>tháp</a:t>
            </a:r>
            <a:r>
              <a:rPr sz="1400" dirty="0"/>
              <a:t> → Excel</a:t>
            </a:r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Zero-shot enrollment: </a:t>
            </a:r>
            <a:r>
              <a:rPr sz="1400" dirty="0" err="1"/>
              <a:t>thêm</a:t>
            </a:r>
            <a:r>
              <a:rPr sz="1400" dirty="0"/>
              <a:t>/</a:t>
            </a:r>
            <a:r>
              <a:rPr sz="1400" dirty="0" err="1"/>
              <a:t>xoá</a:t>
            </a:r>
            <a:r>
              <a:rPr sz="1400" dirty="0"/>
              <a:t> </a:t>
            </a:r>
            <a:r>
              <a:rPr sz="1400" dirty="0" err="1"/>
              <a:t>người</a:t>
            </a:r>
            <a:r>
              <a:rPr sz="1400" dirty="0"/>
              <a:t> </a:t>
            </a:r>
            <a:r>
              <a:rPr sz="1400" dirty="0" err="1"/>
              <a:t>trong</a:t>
            </a:r>
            <a:r>
              <a:rPr sz="1400" dirty="0"/>
              <a:t> </a:t>
            </a:r>
            <a:r>
              <a:rPr sz="1400" dirty="0" err="1"/>
              <a:t>vài</a:t>
            </a:r>
            <a:r>
              <a:rPr sz="1400" dirty="0"/>
              <a:t> </a:t>
            </a:r>
            <a:r>
              <a:rPr sz="1400" dirty="0" err="1"/>
              <a:t>giây</a:t>
            </a:r>
            <a:r>
              <a:rPr sz="1400" dirty="0"/>
              <a:t>, </a:t>
            </a:r>
            <a:r>
              <a:rPr sz="1400" dirty="0" err="1"/>
              <a:t>không</a:t>
            </a:r>
            <a:r>
              <a:rPr sz="1400" dirty="0"/>
              <a:t> </a:t>
            </a:r>
            <a:r>
              <a:rPr sz="1400" dirty="0" err="1"/>
              <a:t>cần</a:t>
            </a:r>
            <a:r>
              <a:rPr sz="1400" dirty="0"/>
              <a:t> train </a:t>
            </a:r>
            <a:r>
              <a:rPr sz="1400" dirty="0" err="1"/>
              <a:t>lại</a:t>
            </a:r>
            <a:endParaRPr sz="1400" dirty="0"/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2 camera check-in/check-out </a:t>
            </a:r>
            <a:r>
              <a:rPr sz="1400" dirty="0" err="1"/>
              <a:t>tự</a:t>
            </a:r>
            <a:r>
              <a:rPr sz="1400" dirty="0"/>
              <a:t> </a:t>
            </a:r>
            <a:r>
              <a:rPr sz="1400" dirty="0" err="1"/>
              <a:t>động</a:t>
            </a:r>
            <a:r>
              <a:rPr sz="1400" dirty="0"/>
              <a:t>, </a:t>
            </a:r>
            <a:r>
              <a:rPr sz="1400" dirty="0" err="1"/>
              <a:t>phân</a:t>
            </a:r>
            <a:r>
              <a:rPr sz="1400" dirty="0"/>
              <a:t> </a:t>
            </a:r>
            <a:r>
              <a:rPr sz="1400" dirty="0" err="1"/>
              <a:t>biệt</a:t>
            </a:r>
            <a:r>
              <a:rPr sz="1400" dirty="0"/>
              <a:t> </a:t>
            </a:r>
            <a:r>
              <a:rPr sz="1400" dirty="0" err="1"/>
              <a:t>rõ</a:t>
            </a:r>
            <a:r>
              <a:rPr sz="1400" dirty="0"/>
              <a:t> </a:t>
            </a:r>
            <a:r>
              <a:rPr sz="1400" dirty="0" err="1"/>
              <a:t>cổng</a:t>
            </a:r>
            <a:r>
              <a:rPr sz="1400" dirty="0"/>
              <a:t> </a:t>
            </a:r>
            <a:r>
              <a:rPr sz="1400" dirty="0" err="1"/>
              <a:t>vào</a:t>
            </a:r>
            <a:r>
              <a:rPr sz="1400" dirty="0"/>
              <a:t>/</a:t>
            </a:r>
            <a:r>
              <a:rPr sz="1400" dirty="0" err="1"/>
              <a:t>ra</a:t>
            </a:r>
            <a:endParaRPr sz="1400" dirty="0"/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</a:t>
            </a:r>
            <a:r>
              <a:rPr sz="1400" dirty="0" err="1"/>
              <a:t>Bù</a:t>
            </a:r>
            <a:r>
              <a:rPr sz="1400" dirty="0"/>
              <a:t> </a:t>
            </a:r>
            <a:r>
              <a:rPr sz="1400" dirty="0" err="1"/>
              <a:t>chất</a:t>
            </a:r>
            <a:r>
              <a:rPr sz="1400" dirty="0"/>
              <a:t> </a:t>
            </a:r>
            <a:r>
              <a:rPr sz="1400" dirty="0" err="1"/>
              <a:t>lượng</a:t>
            </a:r>
            <a:r>
              <a:rPr sz="1400" dirty="0"/>
              <a:t> camera, </a:t>
            </a:r>
            <a:r>
              <a:rPr sz="1400" dirty="0" err="1"/>
              <a:t>không</a:t>
            </a:r>
            <a:r>
              <a:rPr sz="1400" dirty="0"/>
              <a:t> </a:t>
            </a:r>
            <a:r>
              <a:rPr sz="1400" dirty="0" err="1"/>
              <a:t>cần</a:t>
            </a:r>
            <a:r>
              <a:rPr sz="1400" dirty="0"/>
              <a:t> </a:t>
            </a:r>
            <a:r>
              <a:rPr sz="1400" dirty="0" err="1"/>
              <a:t>chỉnh</a:t>
            </a:r>
            <a:r>
              <a:rPr sz="1400" dirty="0"/>
              <a:t> </a:t>
            </a:r>
            <a:r>
              <a:rPr sz="1400" dirty="0" err="1"/>
              <a:t>tay</a:t>
            </a:r>
            <a:endParaRPr sz="1400" dirty="0"/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</a:t>
            </a:r>
            <a:r>
              <a:rPr sz="1400" dirty="0" err="1"/>
              <a:t>Chịu</a:t>
            </a:r>
            <a:r>
              <a:rPr sz="1400" dirty="0"/>
              <a:t> </a:t>
            </a:r>
            <a:r>
              <a:rPr sz="1400" dirty="0" err="1"/>
              <a:t>lỗi</a:t>
            </a:r>
            <a:r>
              <a:rPr sz="1400" dirty="0"/>
              <a:t> </a:t>
            </a:r>
            <a:r>
              <a:rPr sz="1400" dirty="0" err="1"/>
              <a:t>cao</a:t>
            </a:r>
            <a:r>
              <a:rPr sz="1400" dirty="0"/>
              <a:t>: </a:t>
            </a:r>
            <a:r>
              <a:rPr sz="1400" dirty="0" err="1"/>
              <a:t>mất</a:t>
            </a:r>
            <a:r>
              <a:rPr sz="1400" dirty="0"/>
              <a:t> </a:t>
            </a:r>
            <a:r>
              <a:rPr sz="1400" dirty="0" err="1"/>
              <a:t>kết</a:t>
            </a:r>
            <a:r>
              <a:rPr sz="1400" dirty="0"/>
              <a:t> </a:t>
            </a:r>
            <a:r>
              <a:rPr sz="1400" dirty="0" err="1"/>
              <a:t>nối</a:t>
            </a:r>
            <a:r>
              <a:rPr sz="1400" dirty="0"/>
              <a:t> PLC/camera </a:t>
            </a:r>
            <a:r>
              <a:rPr sz="1400" dirty="0" err="1"/>
              <a:t>vẫn</a:t>
            </a:r>
            <a:r>
              <a:rPr sz="1400" dirty="0"/>
              <a:t> </a:t>
            </a:r>
            <a:r>
              <a:rPr sz="1400" dirty="0" err="1"/>
              <a:t>không</a:t>
            </a:r>
            <a:r>
              <a:rPr sz="1400" dirty="0"/>
              <a:t> </a:t>
            </a:r>
            <a:r>
              <a:rPr sz="1400" dirty="0" err="1"/>
              <a:t>sập</a:t>
            </a:r>
            <a:r>
              <a:rPr sz="1400" dirty="0"/>
              <a:t> </a:t>
            </a:r>
            <a:r>
              <a:rPr sz="1400" dirty="0" err="1"/>
              <a:t>hệ</a:t>
            </a:r>
            <a:r>
              <a:rPr sz="1400" dirty="0"/>
              <a:t> </a:t>
            </a:r>
            <a:r>
              <a:rPr sz="1400" dirty="0" err="1"/>
              <a:t>thống</a:t>
            </a:r>
            <a:endParaRPr sz="1400" dirty="0"/>
          </a:p>
          <a:p>
            <a:pPr>
              <a:lnSpc>
                <a:spcPct val="14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</a:t>
            </a:r>
            <a:r>
              <a:rPr sz="1400" dirty="0" err="1"/>
              <a:t>Chạy</a:t>
            </a:r>
            <a:r>
              <a:rPr sz="1400" dirty="0"/>
              <a:t> </a:t>
            </a:r>
            <a:r>
              <a:rPr sz="1400" dirty="0" err="1"/>
              <a:t>được</a:t>
            </a:r>
            <a:r>
              <a:rPr sz="1400" dirty="0"/>
              <a:t> </a:t>
            </a:r>
            <a:r>
              <a:rPr sz="1400" dirty="0" err="1"/>
              <a:t>trên</a:t>
            </a:r>
            <a:r>
              <a:rPr sz="1400" dirty="0"/>
              <a:t> </a:t>
            </a:r>
            <a:r>
              <a:rPr sz="1400" dirty="0" err="1"/>
              <a:t>máy</a:t>
            </a:r>
            <a:r>
              <a:rPr sz="1400" dirty="0"/>
              <a:t> </a:t>
            </a:r>
            <a:r>
              <a:rPr sz="1400" dirty="0" err="1"/>
              <a:t>không</a:t>
            </a:r>
            <a:r>
              <a:rPr sz="1400" dirty="0"/>
              <a:t> </a:t>
            </a:r>
            <a:r>
              <a:rPr sz="1400" dirty="0" err="1"/>
              <a:t>có</a:t>
            </a:r>
            <a:r>
              <a:rPr sz="1400" dirty="0"/>
              <a:t> GPU </a:t>
            </a:r>
            <a:r>
              <a:rPr sz="1400" dirty="0" err="1"/>
              <a:t>rời</a:t>
            </a:r>
            <a:endParaRPr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1">
                <a:solidFill>
                  <a:srgbClr val="4FC3F7"/>
                </a:solidFill>
                <a:latin typeface="Consolas"/>
              </a:defRPr>
            </a:pPr>
            <a:r>
              <a:t>03 — ĐỀ XUẤT SAU THỰC TẬP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3000" b="1">
                <a:solidFill>
                  <a:srgbClr val="EDF0F5"/>
                </a:solidFill>
                <a:latin typeface="Segoe UI"/>
              </a:defRPr>
            </a:pPr>
            <a:r>
              <a:t>Hướng phát triển tiếp theo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5029200" cy="484632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600" b="1">
                <a:solidFill>
                  <a:srgbClr val="4FC3F7"/>
                </a:solidFill>
                <a:latin typeface="Segoe UI"/>
              </a:defRPr>
            </a:pPr>
            <a:r>
              <a:t>Củng cố trước khi mở rộng quy mô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08109"/>
            <a:ext cx="4572000" cy="2524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</a:t>
            </a:r>
            <a:r>
              <a:rPr sz="1400" dirty="0" err="1"/>
              <a:t>Đo</a:t>
            </a:r>
            <a:r>
              <a:rPr sz="1400" dirty="0"/>
              <a:t> </a:t>
            </a:r>
            <a:r>
              <a:rPr sz="1400" dirty="0" err="1"/>
              <a:t>thêm</a:t>
            </a:r>
            <a:r>
              <a:rPr sz="1400" dirty="0"/>
              <a:t> </a:t>
            </a:r>
            <a:r>
              <a:rPr sz="1400" dirty="0" err="1"/>
              <a:t>với</a:t>
            </a:r>
            <a:r>
              <a:rPr sz="1400" dirty="0"/>
              <a:t> </a:t>
            </a:r>
            <a:r>
              <a:rPr sz="1400" dirty="0" err="1"/>
              <a:t>người</a:t>
            </a:r>
            <a:r>
              <a:rPr sz="1400" dirty="0"/>
              <a:t> </a:t>
            </a:r>
            <a:r>
              <a:rPr sz="1400" dirty="0" err="1"/>
              <a:t>lạ</a:t>
            </a:r>
            <a:r>
              <a:rPr sz="1400" dirty="0"/>
              <a:t> </a:t>
            </a:r>
            <a:r>
              <a:rPr lang="en-US" sz="1400" dirty="0" err="1"/>
              <a:t>thật</a:t>
            </a:r>
            <a:r>
              <a:rPr sz="1400" dirty="0"/>
              <a:t> </a:t>
            </a:r>
            <a:r>
              <a:rPr sz="1400" dirty="0" err="1"/>
              <a:t>ngoài</a:t>
            </a:r>
            <a:r>
              <a:rPr sz="1400" dirty="0"/>
              <a:t> </a:t>
            </a:r>
            <a:r>
              <a:rPr sz="1400" dirty="0" err="1"/>
              <a:t>danh</a:t>
            </a:r>
            <a:r>
              <a:rPr sz="1400" dirty="0"/>
              <a:t> </a:t>
            </a:r>
            <a:r>
              <a:rPr sz="1400" dirty="0" err="1"/>
              <a:t>sách</a:t>
            </a:r>
            <a:r>
              <a:rPr sz="1400" dirty="0"/>
              <a:t> </a:t>
            </a:r>
            <a:r>
              <a:rPr sz="1400" dirty="0" err="1"/>
              <a:t>để</a:t>
            </a:r>
            <a:r>
              <a:rPr sz="1400" dirty="0"/>
              <a:t> </a:t>
            </a:r>
            <a:r>
              <a:rPr sz="1400" dirty="0" err="1"/>
              <a:t>có</a:t>
            </a:r>
            <a:r>
              <a:rPr sz="1400" dirty="0"/>
              <a:t> </a:t>
            </a:r>
            <a:r>
              <a:rPr sz="1400" dirty="0" err="1"/>
              <a:t>số</a:t>
            </a:r>
            <a:r>
              <a:rPr sz="1400" dirty="0"/>
              <a:t> </a:t>
            </a:r>
            <a:r>
              <a:rPr sz="1400" dirty="0" err="1"/>
              <a:t>liệu</a:t>
            </a:r>
            <a:r>
              <a:rPr sz="1400" dirty="0"/>
              <a:t> </a:t>
            </a:r>
            <a:r>
              <a:rPr sz="1400" dirty="0" err="1"/>
              <a:t>chính</a:t>
            </a:r>
            <a:r>
              <a:rPr sz="1400" dirty="0"/>
              <a:t> </a:t>
            </a:r>
            <a:r>
              <a:rPr sz="1400" dirty="0" err="1"/>
              <a:t>xác</a:t>
            </a:r>
            <a:r>
              <a:rPr sz="1400" dirty="0"/>
              <a:t> </a:t>
            </a:r>
            <a:r>
              <a:rPr sz="1400" dirty="0" err="1"/>
              <a:t>về</a:t>
            </a:r>
            <a:r>
              <a:rPr sz="1400" dirty="0"/>
              <a:t> </a:t>
            </a:r>
            <a:r>
              <a:rPr sz="1400" dirty="0" err="1"/>
              <a:t>tỷ</a:t>
            </a:r>
            <a:r>
              <a:rPr sz="1400" dirty="0"/>
              <a:t> </a:t>
            </a:r>
            <a:r>
              <a:rPr sz="1400" dirty="0" err="1"/>
              <a:t>lệ</a:t>
            </a:r>
            <a:r>
              <a:rPr sz="1400" dirty="0"/>
              <a:t> </a:t>
            </a:r>
            <a:r>
              <a:rPr sz="1400" dirty="0" err="1"/>
              <a:t>nhận</a:t>
            </a:r>
            <a:r>
              <a:rPr sz="1400" dirty="0"/>
              <a:t> </a:t>
            </a:r>
            <a:r>
              <a:rPr sz="1400" dirty="0" err="1"/>
              <a:t>nhầm</a:t>
            </a:r>
            <a:r>
              <a:rPr sz="1400" dirty="0"/>
              <a:t> </a:t>
            </a:r>
            <a:r>
              <a:rPr sz="1400" dirty="0" err="1"/>
              <a:t>người</a:t>
            </a:r>
            <a:r>
              <a:rPr sz="1400" dirty="0"/>
              <a:t> </a:t>
            </a:r>
            <a:r>
              <a:rPr sz="1400" dirty="0" err="1"/>
              <a:t>lạ</a:t>
            </a:r>
            <a:r>
              <a:rPr sz="1400" dirty="0"/>
              <a:t> </a:t>
            </a:r>
            <a:r>
              <a:rPr sz="1400" dirty="0" err="1"/>
              <a:t>thành</a:t>
            </a:r>
            <a:r>
              <a:rPr sz="1400" dirty="0"/>
              <a:t> </a:t>
            </a:r>
            <a:r>
              <a:rPr sz="1400" dirty="0" err="1"/>
              <a:t>quen</a:t>
            </a:r>
            <a:endParaRPr sz="1400" dirty="0"/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</a:t>
            </a:r>
            <a:r>
              <a:rPr sz="1400" dirty="0" err="1"/>
              <a:t>Mở</a:t>
            </a:r>
            <a:r>
              <a:rPr sz="1400" dirty="0"/>
              <a:t> </a:t>
            </a:r>
            <a:r>
              <a:rPr sz="1400" dirty="0" err="1"/>
              <a:t>rộng</a:t>
            </a:r>
            <a:r>
              <a:rPr sz="1400" dirty="0"/>
              <a:t> dataset </a:t>
            </a:r>
            <a:r>
              <a:rPr sz="1400" dirty="0" err="1"/>
              <a:t>lên</a:t>
            </a:r>
            <a:r>
              <a:rPr sz="1400" dirty="0"/>
              <a:t> </a:t>
            </a:r>
            <a:r>
              <a:rPr sz="1400" dirty="0" err="1"/>
              <a:t>nhiều</a:t>
            </a:r>
            <a:r>
              <a:rPr sz="1400" dirty="0"/>
              <a:t> </a:t>
            </a:r>
            <a:r>
              <a:rPr sz="1400" dirty="0" err="1"/>
              <a:t>người</a:t>
            </a:r>
            <a:r>
              <a:rPr sz="1400" dirty="0"/>
              <a:t> </a:t>
            </a:r>
            <a:r>
              <a:rPr sz="1400" dirty="0" err="1"/>
              <a:t>hơn</a:t>
            </a:r>
            <a:r>
              <a:rPr sz="1400" dirty="0"/>
              <a:t> </a:t>
            </a:r>
            <a:r>
              <a:rPr sz="1400" dirty="0" err="1"/>
              <a:t>quy</a:t>
            </a:r>
            <a:r>
              <a:rPr sz="1400" dirty="0"/>
              <a:t> </a:t>
            </a:r>
            <a:r>
              <a:rPr sz="1400" dirty="0" err="1"/>
              <a:t>mô</a:t>
            </a:r>
            <a:r>
              <a:rPr sz="1400" dirty="0"/>
              <a:t> pilot </a:t>
            </a:r>
            <a:r>
              <a:rPr sz="1400" dirty="0" err="1"/>
              <a:t>hiện</a:t>
            </a:r>
            <a:r>
              <a:rPr sz="1400" dirty="0"/>
              <a:t> </a:t>
            </a:r>
            <a:r>
              <a:rPr sz="1400" dirty="0" err="1"/>
              <a:t>tại</a:t>
            </a:r>
            <a:endParaRPr sz="1400" dirty="0"/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Anti-spoofing: </a:t>
            </a:r>
            <a:r>
              <a:rPr sz="1400" dirty="0" err="1"/>
              <a:t>phát</a:t>
            </a:r>
            <a:r>
              <a:rPr sz="1400" dirty="0"/>
              <a:t> </a:t>
            </a:r>
            <a:r>
              <a:rPr sz="1400" dirty="0" err="1"/>
              <a:t>hiện</a:t>
            </a:r>
            <a:r>
              <a:rPr sz="1400" dirty="0"/>
              <a:t> </a:t>
            </a:r>
            <a:r>
              <a:rPr sz="1400" dirty="0" err="1"/>
              <a:t>ảnh</a:t>
            </a:r>
            <a:r>
              <a:rPr sz="1400" dirty="0"/>
              <a:t> in </a:t>
            </a:r>
            <a:r>
              <a:rPr sz="1400" dirty="0" err="1"/>
              <a:t>hoặc</a:t>
            </a:r>
            <a:r>
              <a:rPr sz="1400" dirty="0"/>
              <a:t> </a:t>
            </a:r>
            <a:r>
              <a:rPr sz="1400" dirty="0" err="1"/>
              <a:t>màn</a:t>
            </a:r>
            <a:r>
              <a:rPr sz="1400" dirty="0"/>
              <a:t> </a:t>
            </a:r>
            <a:r>
              <a:rPr sz="1400" dirty="0" err="1"/>
              <a:t>hình</a:t>
            </a:r>
            <a:r>
              <a:rPr sz="1400" dirty="0"/>
              <a:t> </a:t>
            </a:r>
            <a:r>
              <a:rPr sz="1400" dirty="0" err="1"/>
              <a:t>điện</a:t>
            </a:r>
            <a:r>
              <a:rPr sz="1400" dirty="0"/>
              <a:t> </a:t>
            </a:r>
            <a:r>
              <a:rPr sz="1400" dirty="0" err="1"/>
              <a:t>thoại</a:t>
            </a:r>
            <a:r>
              <a:rPr sz="1400" dirty="0"/>
              <a:t> </a:t>
            </a:r>
            <a:r>
              <a:rPr sz="1400" dirty="0" err="1"/>
              <a:t>giả</a:t>
            </a:r>
            <a:r>
              <a:rPr sz="1400" dirty="0"/>
              <a:t> </a:t>
            </a:r>
            <a:r>
              <a:rPr sz="1400" dirty="0" err="1"/>
              <a:t>mạo</a:t>
            </a:r>
            <a:endParaRPr sz="1400" dirty="0"/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Lưu </a:t>
            </a:r>
            <a:r>
              <a:rPr sz="1400" dirty="0" err="1"/>
              <a:t>nhật</a:t>
            </a:r>
            <a:r>
              <a:rPr sz="1400" dirty="0"/>
              <a:t> </a:t>
            </a:r>
            <a:r>
              <a:rPr sz="1400" dirty="0" err="1"/>
              <a:t>ký</a:t>
            </a:r>
            <a:r>
              <a:rPr sz="1400" dirty="0"/>
              <a:t> </a:t>
            </a:r>
            <a:r>
              <a:rPr sz="1400" dirty="0" err="1"/>
              <a:t>thay</a:t>
            </a:r>
            <a:r>
              <a:rPr sz="1400" dirty="0"/>
              <a:t> </a:t>
            </a:r>
            <a:r>
              <a:rPr sz="1400" dirty="0" err="1"/>
              <a:t>vì</a:t>
            </a:r>
            <a:r>
              <a:rPr sz="1400" dirty="0"/>
              <a:t> </a:t>
            </a:r>
            <a:r>
              <a:rPr sz="1400" dirty="0" err="1"/>
              <a:t>chỉ</a:t>
            </a:r>
            <a:r>
              <a:rPr sz="1400" dirty="0"/>
              <a:t> </a:t>
            </a:r>
            <a:r>
              <a:rPr sz="1400" dirty="0" err="1"/>
              <a:t>giữ</a:t>
            </a:r>
            <a:r>
              <a:rPr sz="1400" dirty="0"/>
              <a:t> </a:t>
            </a:r>
            <a:r>
              <a:rPr sz="1400" dirty="0" err="1"/>
              <a:t>trong</a:t>
            </a:r>
            <a:r>
              <a:rPr sz="1400" dirty="0"/>
              <a:t> </a:t>
            </a:r>
            <a:r>
              <a:rPr sz="1400" dirty="0" err="1"/>
              <a:t>bộ</a:t>
            </a:r>
            <a:r>
              <a:rPr sz="1400" dirty="0"/>
              <a:t> </a:t>
            </a:r>
            <a:r>
              <a:rPr sz="1400" dirty="0" err="1"/>
              <a:t>nhớ</a:t>
            </a:r>
            <a:endParaRPr sz="1400" dirty="0"/>
          </a:p>
        </p:txBody>
      </p:sp>
      <p:sp>
        <p:nvSpPr>
          <p:cNvPr id="7" name="Rectangle 6"/>
          <p:cNvSpPr/>
          <p:nvPr/>
        </p:nvSpPr>
        <p:spPr>
          <a:xfrm>
            <a:off x="6400800" y="1508760"/>
            <a:ext cx="5029200" cy="484632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600" b="1">
                <a:solidFill>
                  <a:srgbClr val="4FC3F7"/>
                </a:solidFill>
                <a:latin typeface="Segoe UI"/>
              </a:defRPr>
            </a:pPr>
            <a:r>
              <a:t>Hướng mở rộng khi triển khai thật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572000" cy="3591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Bảo </a:t>
            </a:r>
            <a:r>
              <a:rPr sz="1400" dirty="0" err="1"/>
              <a:t>mật</a:t>
            </a:r>
            <a:r>
              <a:rPr sz="1400" dirty="0"/>
              <a:t> production: </a:t>
            </a:r>
            <a:r>
              <a:rPr sz="1400" dirty="0" err="1"/>
              <a:t>kết</a:t>
            </a:r>
            <a:r>
              <a:rPr sz="1400" dirty="0"/>
              <a:t> </a:t>
            </a:r>
            <a:r>
              <a:rPr sz="1400" dirty="0" err="1"/>
              <a:t>nối</a:t>
            </a:r>
            <a:r>
              <a:rPr sz="1400" dirty="0"/>
              <a:t> </a:t>
            </a:r>
            <a:r>
              <a:rPr sz="1400" dirty="0" err="1"/>
              <a:t>mã</a:t>
            </a:r>
            <a:r>
              <a:rPr sz="1400" dirty="0"/>
              <a:t> </a:t>
            </a:r>
            <a:r>
              <a:rPr sz="1400" dirty="0" err="1"/>
              <a:t>hoá</a:t>
            </a:r>
            <a:r>
              <a:rPr sz="1400" dirty="0"/>
              <a:t> (HTTPS), </a:t>
            </a:r>
            <a:r>
              <a:rPr sz="1400" dirty="0" err="1"/>
              <a:t>phân</a:t>
            </a:r>
            <a:r>
              <a:rPr sz="1400" dirty="0"/>
              <a:t> </a:t>
            </a:r>
            <a:r>
              <a:rPr sz="1400" dirty="0" err="1"/>
              <a:t>quyền</a:t>
            </a:r>
            <a:r>
              <a:rPr sz="1400" dirty="0"/>
              <a:t> </a:t>
            </a:r>
            <a:r>
              <a:rPr sz="1400" dirty="0" err="1"/>
              <a:t>đăng</a:t>
            </a:r>
            <a:r>
              <a:rPr sz="1400" dirty="0"/>
              <a:t> </a:t>
            </a:r>
            <a:r>
              <a:rPr sz="1400" dirty="0" err="1"/>
              <a:t>nhập</a:t>
            </a:r>
            <a:r>
              <a:rPr sz="1400" dirty="0"/>
              <a:t> </a:t>
            </a:r>
            <a:r>
              <a:rPr sz="1400" dirty="0" err="1"/>
              <a:t>rõ</a:t>
            </a:r>
            <a:r>
              <a:rPr sz="1400" dirty="0"/>
              <a:t> </a:t>
            </a:r>
            <a:r>
              <a:rPr sz="1400" dirty="0" err="1"/>
              <a:t>ràng</a:t>
            </a:r>
            <a:endParaRPr sz="1400" dirty="0"/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</a:t>
            </a:r>
            <a:r>
              <a:rPr sz="1400" dirty="0" err="1"/>
              <a:t>Triển</a:t>
            </a:r>
            <a:r>
              <a:rPr sz="1400" dirty="0"/>
              <a:t> </a:t>
            </a:r>
            <a:r>
              <a:rPr sz="1400" dirty="0" err="1"/>
              <a:t>khai</a:t>
            </a:r>
            <a:r>
              <a:rPr sz="1400" dirty="0"/>
              <a:t> </a:t>
            </a:r>
            <a:r>
              <a:rPr sz="1400" dirty="0" err="1"/>
              <a:t>trên</a:t>
            </a:r>
            <a:r>
              <a:rPr sz="1400" dirty="0"/>
              <a:t> </a:t>
            </a:r>
            <a:r>
              <a:rPr sz="1400" dirty="0" err="1"/>
              <a:t>thiết</a:t>
            </a:r>
            <a:r>
              <a:rPr sz="1400" dirty="0"/>
              <a:t> </a:t>
            </a:r>
            <a:r>
              <a:rPr sz="1400" dirty="0" err="1"/>
              <a:t>bị</a:t>
            </a:r>
            <a:r>
              <a:rPr sz="1400" dirty="0"/>
              <a:t> </a:t>
            </a:r>
            <a:r>
              <a:rPr sz="1400" dirty="0" err="1"/>
              <a:t>biên</a:t>
            </a:r>
            <a:r>
              <a:rPr sz="1400" dirty="0"/>
              <a:t> (edge) </a:t>
            </a:r>
            <a:r>
              <a:rPr sz="1400" dirty="0" err="1"/>
              <a:t>đặt</a:t>
            </a:r>
            <a:r>
              <a:rPr sz="1400" dirty="0"/>
              <a:t> </a:t>
            </a:r>
            <a:r>
              <a:rPr sz="1400" dirty="0" err="1"/>
              <a:t>gần</a:t>
            </a:r>
            <a:r>
              <a:rPr sz="1400" dirty="0"/>
              <a:t> camera </a:t>
            </a:r>
            <a:r>
              <a:rPr sz="1400" dirty="0" err="1"/>
              <a:t>để</a:t>
            </a:r>
            <a:r>
              <a:rPr sz="1400" dirty="0"/>
              <a:t> </a:t>
            </a:r>
            <a:r>
              <a:rPr sz="1400" dirty="0" err="1"/>
              <a:t>giảm</a:t>
            </a:r>
            <a:r>
              <a:rPr sz="1400" dirty="0"/>
              <a:t> </a:t>
            </a:r>
            <a:r>
              <a:rPr sz="1400" dirty="0" err="1"/>
              <a:t>độ</a:t>
            </a:r>
            <a:r>
              <a:rPr sz="1400" dirty="0"/>
              <a:t> </a:t>
            </a:r>
            <a:r>
              <a:rPr sz="1400" dirty="0" err="1"/>
              <a:t>trễ</a:t>
            </a:r>
            <a:endParaRPr sz="1400" dirty="0"/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</a:t>
            </a:r>
            <a:r>
              <a:rPr sz="1400" dirty="0" err="1"/>
              <a:t>Mở</a:t>
            </a:r>
            <a:r>
              <a:rPr sz="1400" dirty="0"/>
              <a:t> </a:t>
            </a:r>
            <a:r>
              <a:rPr sz="1400" dirty="0" err="1"/>
              <a:t>rộng</a:t>
            </a:r>
            <a:r>
              <a:rPr sz="1400" dirty="0"/>
              <a:t> </a:t>
            </a:r>
            <a:r>
              <a:rPr sz="1400" dirty="0" err="1"/>
              <a:t>nhiều</a:t>
            </a:r>
            <a:r>
              <a:rPr sz="1400" dirty="0"/>
              <a:t> </a:t>
            </a:r>
            <a:r>
              <a:rPr sz="1400" dirty="0" err="1"/>
              <a:t>điểm</a:t>
            </a:r>
            <a:r>
              <a:rPr sz="1400" dirty="0"/>
              <a:t> </a:t>
            </a:r>
            <a:r>
              <a:rPr sz="1400" dirty="0" err="1"/>
              <a:t>lắp</a:t>
            </a:r>
            <a:r>
              <a:rPr sz="1400" dirty="0"/>
              <a:t> </a:t>
            </a:r>
            <a:r>
              <a:rPr sz="1400" dirty="0" err="1"/>
              <a:t>đặt</a:t>
            </a:r>
            <a:r>
              <a:rPr sz="1400" dirty="0"/>
              <a:t>, </a:t>
            </a:r>
            <a:r>
              <a:rPr sz="1400" dirty="0" err="1"/>
              <a:t>gom</a:t>
            </a:r>
            <a:r>
              <a:rPr sz="1400" dirty="0"/>
              <a:t> </a:t>
            </a:r>
            <a:r>
              <a:rPr sz="1400" dirty="0" err="1"/>
              <a:t>dữ</a:t>
            </a:r>
            <a:r>
              <a:rPr sz="1400" dirty="0"/>
              <a:t> </a:t>
            </a:r>
            <a:r>
              <a:rPr sz="1400" dirty="0" err="1"/>
              <a:t>liệu</a:t>
            </a:r>
            <a:r>
              <a:rPr sz="1400" dirty="0"/>
              <a:t> </a:t>
            </a:r>
            <a:r>
              <a:rPr sz="1400" dirty="0" err="1"/>
              <a:t>về</a:t>
            </a:r>
            <a:r>
              <a:rPr sz="1400" dirty="0"/>
              <a:t> 1 </a:t>
            </a:r>
            <a:r>
              <a:rPr sz="1400" dirty="0" err="1"/>
              <a:t>hệ</a:t>
            </a:r>
            <a:r>
              <a:rPr sz="1400" dirty="0"/>
              <a:t> </a:t>
            </a:r>
            <a:r>
              <a:rPr sz="1400" dirty="0" err="1"/>
              <a:t>thống</a:t>
            </a:r>
            <a:r>
              <a:rPr sz="1400" dirty="0"/>
              <a:t> </a:t>
            </a:r>
            <a:r>
              <a:rPr sz="1400" dirty="0" err="1"/>
              <a:t>trung</a:t>
            </a:r>
            <a:r>
              <a:rPr sz="1400" dirty="0"/>
              <a:t> </a:t>
            </a:r>
            <a:r>
              <a:rPr sz="1400" dirty="0" err="1"/>
              <a:t>tâm</a:t>
            </a:r>
            <a:endParaRPr sz="1400" dirty="0"/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</a:t>
            </a:r>
            <a:r>
              <a:rPr sz="1400" dirty="0" err="1"/>
              <a:t>Bảng</a:t>
            </a:r>
            <a:r>
              <a:rPr sz="1400" dirty="0"/>
              <a:t> </a:t>
            </a:r>
            <a:r>
              <a:rPr sz="1400" dirty="0" err="1"/>
              <a:t>thống</a:t>
            </a:r>
            <a:r>
              <a:rPr sz="1400" dirty="0"/>
              <a:t> </a:t>
            </a:r>
            <a:r>
              <a:rPr sz="1400" dirty="0" err="1"/>
              <a:t>kê</a:t>
            </a:r>
            <a:r>
              <a:rPr sz="1400" dirty="0"/>
              <a:t> xu </a:t>
            </a:r>
            <a:r>
              <a:rPr sz="1400" dirty="0" err="1"/>
              <a:t>hướng</a:t>
            </a:r>
            <a:r>
              <a:rPr sz="1400" dirty="0"/>
              <a:t> </a:t>
            </a:r>
            <a:r>
              <a:rPr sz="1400" dirty="0" err="1"/>
              <a:t>ra</a:t>
            </a:r>
            <a:r>
              <a:rPr sz="1400" dirty="0"/>
              <a:t> </a:t>
            </a:r>
            <a:r>
              <a:rPr sz="1400" dirty="0" err="1"/>
              <a:t>vào</a:t>
            </a:r>
            <a:r>
              <a:rPr sz="1400" dirty="0"/>
              <a:t>, </a:t>
            </a:r>
            <a:r>
              <a:rPr sz="1400" dirty="0" err="1"/>
              <a:t>cảnh</a:t>
            </a:r>
            <a:r>
              <a:rPr sz="1400" dirty="0"/>
              <a:t> </a:t>
            </a:r>
            <a:r>
              <a:rPr sz="1400" dirty="0" err="1"/>
              <a:t>báo</a:t>
            </a:r>
            <a:r>
              <a:rPr sz="1400" dirty="0"/>
              <a:t> </a:t>
            </a:r>
            <a:r>
              <a:rPr sz="1400" dirty="0" err="1"/>
              <a:t>tự</a:t>
            </a:r>
            <a:r>
              <a:rPr sz="1400" dirty="0"/>
              <a:t> </a:t>
            </a:r>
            <a:r>
              <a:rPr sz="1400" dirty="0" err="1"/>
              <a:t>động</a:t>
            </a:r>
            <a:r>
              <a:rPr sz="1400" dirty="0"/>
              <a:t> </a:t>
            </a:r>
            <a:r>
              <a:rPr sz="1400" dirty="0" err="1"/>
              <a:t>khi</a:t>
            </a:r>
            <a:r>
              <a:rPr sz="1400" dirty="0"/>
              <a:t> </a:t>
            </a:r>
            <a:r>
              <a:rPr sz="1400" dirty="0" err="1"/>
              <a:t>có</a:t>
            </a:r>
            <a:r>
              <a:rPr sz="1400" dirty="0"/>
              <a:t> </a:t>
            </a:r>
            <a:r>
              <a:rPr sz="1400" dirty="0" err="1"/>
              <a:t>bất</a:t>
            </a:r>
            <a:r>
              <a:rPr sz="1400" dirty="0"/>
              <a:t> </a:t>
            </a:r>
            <a:r>
              <a:rPr sz="1400" dirty="0" err="1"/>
              <a:t>thường</a:t>
            </a:r>
            <a:endParaRPr sz="1400" dirty="0"/>
          </a:p>
          <a:p>
            <a:pPr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/>
              <a:t>  </a:t>
            </a:r>
            <a:r>
              <a:rPr sz="1400" dirty="0" err="1"/>
              <a:t>Ứng</a:t>
            </a:r>
            <a:r>
              <a:rPr sz="1400" dirty="0"/>
              <a:t> </a:t>
            </a:r>
            <a:r>
              <a:rPr sz="1400" dirty="0" err="1"/>
              <a:t>dụng</a:t>
            </a:r>
            <a:r>
              <a:rPr sz="1400" dirty="0"/>
              <a:t> di </a:t>
            </a:r>
            <a:r>
              <a:rPr sz="1400" dirty="0" err="1"/>
              <a:t>động</a:t>
            </a:r>
            <a:r>
              <a:rPr sz="1400" dirty="0"/>
              <a:t> </a:t>
            </a:r>
            <a:r>
              <a:rPr sz="1400" dirty="0" err="1"/>
              <a:t>thông</a:t>
            </a:r>
            <a:r>
              <a:rPr sz="1400" dirty="0"/>
              <a:t> </a:t>
            </a:r>
            <a:r>
              <a:rPr sz="1400" dirty="0" err="1"/>
              <a:t>báo</a:t>
            </a:r>
            <a:r>
              <a:rPr sz="1400" dirty="0"/>
              <a:t> </a:t>
            </a:r>
            <a:r>
              <a:rPr sz="1400" dirty="0" err="1"/>
              <a:t>ngay</a:t>
            </a:r>
            <a:r>
              <a:rPr sz="1400" dirty="0"/>
              <a:t> </a:t>
            </a:r>
            <a:r>
              <a:rPr sz="1400" dirty="0" err="1"/>
              <a:t>khi</a:t>
            </a:r>
            <a:r>
              <a:rPr sz="1400" dirty="0"/>
              <a:t> </a:t>
            </a:r>
            <a:r>
              <a:rPr sz="1400" dirty="0" err="1"/>
              <a:t>phát</a:t>
            </a:r>
            <a:r>
              <a:rPr sz="1400" dirty="0"/>
              <a:t> </a:t>
            </a:r>
            <a:r>
              <a:rPr sz="1400" dirty="0" err="1"/>
              <a:t>hiện</a:t>
            </a:r>
            <a:r>
              <a:rPr sz="1400" dirty="0"/>
              <a:t> </a:t>
            </a:r>
            <a:r>
              <a:rPr sz="1400" dirty="0" err="1"/>
              <a:t>người</a:t>
            </a:r>
            <a:r>
              <a:rPr sz="1400" dirty="0"/>
              <a:t> </a:t>
            </a:r>
            <a:r>
              <a:rPr sz="1400" dirty="0" err="1"/>
              <a:t>lạ</a:t>
            </a:r>
            <a:endParaRPr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114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1">
                <a:solidFill>
                  <a:srgbClr val="4FC3F7"/>
                </a:solidFill>
                <a:latin typeface="Consolas"/>
              </a:defRPr>
            </a:pPr>
            <a:r>
              <a:t>04 — TỔNG KẾT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3000" b="1">
                <a:solidFill>
                  <a:srgbClr val="EDF0F5"/>
                </a:solidFill>
                <a:latin typeface="Segoe UI"/>
              </a:defRPr>
            </a:pPr>
            <a:r>
              <a:t>Tổng kết quá trình thực tập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5029200" cy="484632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600" b="1">
                <a:solidFill>
                  <a:srgbClr val="EDF0F5"/>
                </a:solidFill>
                <a:latin typeface="Segoe UI"/>
              </a:defRPr>
            </a:pPr>
            <a:r>
              <a:t>Những gì đã hoàn thành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24269"/>
            <a:ext cx="4572000" cy="246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>
                <a:solidFill>
                  <a:schemeClr val="bg1"/>
                </a:solidFill>
              </a:rPr>
              <a:t>  </a:t>
            </a:r>
            <a:r>
              <a:rPr sz="1400" dirty="0" err="1">
                <a:solidFill>
                  <a:schemeClr val="bg1"/>
                </a:solidFill>
              </a:rPr>
              <a:t>Xây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dựng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hoàn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chỉnh</a:t>
            </a:r>
            <a:r>
              <a:rPr sz="1400" dirty="0">
                <a:solidFill>
                  <a:schemeClr val="bg1"/>
                </a:solidFill>
              </a:rPr>
              <a:t> 1 </a:t>
            </a:r>
            <a:r>
              <a:rPr sz="1400" dirty="0" err="1">
                <a:solidFill>
                  <a:schemeClr val="bg1"/>
                </a:solidFill>
              </a:rPr>
              <a:t>hệ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thống</a:t>
            </a:r>
            <a:r>
              <a:rPr sz="1400" dirty="0">
                <a:solidFill>
                  <a:schemeClr val="bg1"/>
                </a:solidFill>
              </a:rPr>
              <a:t> end-to-end: </a:t>
            </a:r>
            <a:r>
              <a:rPr sz="1400" dirty="0" err="1">
                <a:solidFill>
                  <a:schemeClr val="bg1"/>
                </a:solidFill>
              </a:rPr>
              <a:t>từ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thu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thập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dữ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liệu</a:t>
            </a:r>
            <a:r>
              <a:rPr sz="1400" dirty="0">
                <a:solidFill>
                  <a:schemeClr val="bg1"/>
                </a:solidFill>
              </a:rPr>
              <a:t>, train model, </a:t>
            </a:r>
            <a:r>
              <a:rPr sz="1400" dirty="0" err="1">
                <a:solidFill>
                  <a:schemeClr val="bg1"/>
                </a:solidFill>
              </a:rPr>
              <a:t>đến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triển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khai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thực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tế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chạy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ổn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định</a:t>
            </a:r>
            <a:endParaRPr sz="1400" dirty="0">
              <a:solidFill>
                <a:schemeClr val="bg1"/>
              </a:solidFill>
            </a:endParaRPr>
          </a:p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 err="1">
                <a:solidFill>
                  <a:schemeClr val="bg1"/>
                </a:solidFill>
              </a:rPr>
              <a:t>Tự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đánh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giá</a:t>
            </a:r>
            <a:r>
              <a:rPr sz="1400" dirty="0">
                <a:solidFill>
                  <a:schemeClr val="bg1"/>
                </a:solidFill>
              </a:rPr>
              <a:t>, </a:t>
            </a:r>
            <a:r>
              <a:rPr sz="1400" dirty="0" err="1">
                <a:solidFill>
                  <a:schemeClr val="bg1"/>
                </a:solidFill>
              </a:rPr>
              <a:t>đo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lường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và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cải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thiện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độ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chính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xác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theo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số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liệu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cụ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thể</a:t>
            </a:r>
            <a:r>
              <a:rPr sz="1400" dirty="0">
                <a:solidFill>
                  <a:schemeClr val="bg1"/>
                </a:solidFill>
              </a:rPr>
              <a:t>, </a:t>
            </a:r>
            <a:r>
              <a:rPr sz="1400" dirty="0" err="1">
                <a:solidFill>
                  <a:schemeClr val="bg1"/>
                </a:solidFill>
              </a:rPr>
              <a:t>không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chỉ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dừng</a:t>
            </a:r>
            <a:r>
              <a:rPr sz="1400" dirty="0">
                <a:solidFill>
                  <a:schemeClr val="bg1"/>
                </a:solidFill>
              </a:rPr>
              <a:t> ở demo </a:t>
            </a:r>
            <a:r>
              <a:rPr sz="1400" dirty="0" err="1">
                <a:solidFill>
                  <a:schemeClr val="bg1"/>
                </a:solidFill>
              </a:rPr>
              <a:t>trực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quan</a:t>
            </a:r>
            <a:endParaRPr sz="1400" dirty="0">
              <a:solidFill>
                <a:schemeClr val="bg1"/>
              </a:solidFill>
            </a:endParaRPr>
          </a:p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>
                <a:solidFill>
                  <a:schemeClr val="bg1"/>
                </a:solidFill>
              </a:rPr>
              <a:t>  </a:t>
            </a:r>
            <a:r>
              <a:rPr sz="1400" dirty="0" err="1">
                <a:solidFill>
                  <a:schemeClr val="bg1"/>
                </a:solidFill>
              </a:rPr>
              <a:t>Xây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dựng</a:t>
            </a:r>
            <a:r>
              <a:rPr sz="1400" dirty="0">
                <a:solidFill>
                  <a:schemeClr val="bg1"/>
                </a:solidFill>
              </a:rPr>
              <a:t> Web UI, </a:t>
            </a:r>
            <a:r>
              <a:rPr sz="1400" dirty="0" err="1">
                <a:solidFill>
                  <a:schemeClr val="bg1"/>
                </a:solidFill>
              </a:rPr>
              <a:t>hệ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thống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báo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cáo</a:t>
            </a:r>
            <a:r>
              <a:rPr sz="1400" dirty="0">
                <a:solidFill>
                  <a:schemeClr val="bg1"/>
                </a:solidFill>
              </a:rPr>
              <a:t> Excel </a:t>
            </a:r>
            <a:r>
              <a:rPr sz="1400" dirty="0" err="1">
                <a:solidFill>
                  <a:schemeClr val="bg1"/>
                </a:solidFill>
              </a:rPr>
              <a:t>và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quy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trình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vận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hành</a:t>
            </a:r>
            <a:r>
              <a:rPr sz="1400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508760"/>
            <a:ext cx="5029200" cy="4846320"/>
          </a:xfrm>
          <a:prstGeom prst="rect">
            <a:avLst/>
          </a:prstGeom>
          <a:solidFill>
            <a:srgbClr val="131D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600" b="1">
                <a:solidFill>
                  <a:srgbClr val="EDF0F5"/>
                </a:solidFill>
                <a:latin typeface="Segoe UI"/>
              </a:defRPr>
            </a:pPr>
            <a:r>
              <a:rPr dirty="0" err="1"/>
              <a:t>Những</a:t>
            </a:r>
            <a:r>
              <a:rPr dirty="0"/>
              <a:t> </a:t>
            </a:r>
            <a:r>
              <a:rPr dirty="0" err="1"/>
              <a:t>gì</a:t>
            </a:r>
            <a:r>
              <a:rPr dirty="0"/>
              <a:t> </a:t>
            </a:r>
            <a:r>
              <a:rPr dirty="0" err="1"/>
              <a:t>đã</a:t>
            </a:r>
            <a:r>
              <a:rPr dirty="0"/>
              <a:t> </a:t>
            </a:r>
            <a:r>
              <a:rPr dirty="0" err="1"/>
              <a:t>học</a:t>
            </a:r>
            <a:r>
              <a:rPr dirty="0"/>
              <a:t> </a:t>
            </a:r>
            <a:r>
              <a:rPr dirty="0" err="1"/>
              <a:t>được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675120" y="2424269"/>
            <a:ext cx="4572000" cy="2468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>
                <a:solidFill>
                  <a:schemeClr val="bg1"/>
                </a:solidFill>
              </a:rPr>
              <a:t>  Quy </a:t>
            </a:r>
            <a:r>
              <a:rPr sz="1400" dirty="0" err="1">
                <a:solidFill>
                  <a:schemeClr val="bg1"/>
                </a:solidFill>
              </a:rPr>
              <a:t>trình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làm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việc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thực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tế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với</a:t>
            </a:r>
            <a:r>
              <a:rPr sz="1400" dirty="0">
                <a:solidFill>
                  <a:schemeClr val="bg1"/>
                </a:solidFill>
              </a:rPr>
              <a:t> computer vision: </a:t>
            </a:r>
            <a:r>
              <a:rPr sz="1400" dirty="0" err="1">
                <a:solidFill>
                  <a:schemeClr val="bg1"/>
                </a:solidFill>
              </a:rPr>
              <a:t>từ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dữ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liệu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thô</a:t>
            </a:r>
            <a:r>
              <a:rPr sz="1400" dirty="0">
                <a:solidFill>
                  <a:schemeClr val="bg1"/>
                </a:solidFill>
              </a:rPr>
              <a:t>, </a:t>
            </a:r>
            <a:r>
              <a:rPr sz="1400" dirty="0" err="1">
                <a:solidFill>
                  <a:schemeClr val="bg1"/>
                </a:solidFill>
              </a:rPr>
              <a:t>huấn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luyện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mô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hình</a:t>
            </a:r>
            <a:r>
              <a:rPr sz="1400" dirty="0">
                <a:solidFill>
                  <a:schemeClr val="bg1"/>
                </a:solidFill>
              </a:rPr>
              <a:t>, </a:t>
            </a:r>
            <a:r>
              <a:rPr sz="1400" dirty="0" err="1">
                <a:solidFill>
                  <a:schemeClr val="bg1"/>
                </a:solidFill>
              </a:rPr>
              <a:t>đến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xử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lý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các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vấn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đề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phát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sinh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ngoài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đời</a:t>
            </a:r>
            <a:r>
              <a:rPr sz="1400" dirty="0">
                <a:solidFill>
                  <a:schemeClr val="bg1"/>
                </a:solidFill>
              </a:rPr>
              <a:t> (camera </a:t>
            </a:r>
            <a:r>
              <a:rPr sz="1400" dirty="0" err="1">
                <a:solidFill>
                  <a:schemeClr val="bg1"/>
                </a:solidFill>
              </a:rPr>
              <a:t>kém</a:t>
            </a:r>
            <a:r>
              <a:rPr sz="1400" dirty="0">
                <a:solidFill>
                  <a:schemeClr val="bg1"/>
                </a:solidFill>
              </a:rPr>
              <a:t>, </a:t>
            </a:r>
            <a:r>
              <a:rPr sz="1400" dirty="0" err="1">
                <a:solidFill>
                  <a:schemeClr val="bg1"/>
                </a:solidFill>
              </a:rPr>
              <a:t>ánh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sáng</a:t>
            </a:r>
            <a:r>
              <a:rPr sz="1400" dirty="0">
                <a:solidFill>
                  <a:schemeClr val="bg1"/>
                </a:solidFill>
              </a:rPr>
              <a:t>, </a:t>
            </a:r>
            <a:r>
              <a:rPr sz="1400" dirty="0" err="1">
                <a:solidFill>
                  <a:schemeClr val="bg1"/>
                </a:solidFill>
              </a:rPr>
              <a:t>nhận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nhầm</a:t>
            </a:r>
            <a:r>
              <a:rPr sz="1400" dirty="0">
                <a:solidFill>
                  <a:schemeClr val="bg1"/>
                </a:solidFill>
              </a:rPr>
              <a:t>)</a:t>
            </a:r>
          </a:p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>
                <a:solidFill>
                  <a:schemeClr val="bg1"/>
                </a:solidFill>
              </a:rPr>
              <a:t>  </a:t>
            </a:r>
            <a:r>
              <a:rPr sz="1400" dirty="0" err="1">
                <a:solidFill>
                  <a:schemeClr val="bg1"/>
                </a:solidFill>
              </a:rPr>
              <a:t>Cách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tích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hợp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phần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mềm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với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phần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cứng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công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nghiệp</a:t>
            </a:r>
            <a:r>
              <a:rPr sz="1400" dirty="0">
                <a:solidFill>
                  <a:schemeClr val="bg1"/>
                </a:solidFill>
              </a:rPr>
              <a:t> (PLC) </a:t>
            </a:r>
            <a:r>
              <a:rPr sz="1400" dirty="0" err="1">
                <a:solidFill>
                  <a:schemeClr val="bg1"/>
                </a:solidFill>
              </a:rPr>
              <a:t>Tư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duy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thiết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kế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hệ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thống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chịu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lỗi</a:t>
            </a:r>
            <a:r>
              <a:rPr sz="1400" dirty="0">
                <a:solidFill>
                  <a:schemeClr val="bg1"/>
                </a:solidFill>
              </a:rPr>
              <a:t>, </a:t>
            </a:r>
            <a:r>
              <a:rPr sz="1400" dirty="0" err="1">
                <a:solidFill>
                  <a:schemeClr val="bg1"/>
                </a:solidFill>
              </a:rPr>
              <a:t>có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khả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năng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mở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rộng</a:t>
            </a:r>
            <a:r>
              <a:rPr sz="1400" dirty="0">
                <a:solidFill>
                  <a:schemeClr val="bg1"/>
                </a:solidFill>
              </a:rPr>
              <a:t>, </a:t>
            </a:r>
            <a:r>
              <a:rPr sz="1400" dirty="0" err="1">
                <a:solidFill>
                  <a:schemeClr val="bg1"/>
                </a:solidFill>
              </a:rPr>
              <a:t>thay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vì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chỉ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viết</a:t>
            </a:r>
            <a:r>
              <a:rPr sz="1400" dirty="0">
                <a:solidFill>
                  <a:schemeClr val="bg1"/>
                </a:solidFill>
              </a:rPr>
              <a:t> code </a:t>
            </a:r>
            <a:r>
              <a:rPr sz="1400" dirty="0" err="1">
                <a:solidFill>
                  <a:schemeClr val="bg1"/>
                </a:solidFill>
              </a:rPr>
              <a:t>chạy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được</a:t>
            </a:r>
            <a:r>
              <a:rPr sz="1400" dirty="0">
                <a:solidFill>
                  <a:schemeClr val="bg1"/>
                </a:solidFill>
              </a:rPr>
              <a:t> 1 </a:t>
            </a:r>
            <a:r>
              <a:rPr sz="1400" dirty="0" err="1">
                <a:solidFill>
                  <a:schemeClr val="bg1"/>
                </a:solidFill>
              </a:rPr>
              <a:t>lần</a:t>
            </a:r>
            <a:endParaRPr sz="1400" dirty="0">
              <a:solidFill>
                <a:schemeClr val="bg1"/>
              </a:solidFill>
            </a:endParaRPr>
          </a:p>
          <a:p>
            <a:pPr algn="just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defRPr sz="1300">
                <a:solidFill>
                  <a:srgbClr val="D5DAE3"/>
                </a:solidFill>
                <a:latin typeface="Segoe UI"/>
              </a:defRPr>
            </a:pPr>
            <a:r>
              <a:rPr sz="1400" dirty="0">
                <a:solidFill>
                  <a:schemeClr val="bg1"/>
                </a:solidFill>
              </a:rPr>
              <a:t>  </a:t>
            </a:r>
            <a:r>
              <a:rPr sz="1400" dirty="0" err="1">
                <a:solidFill>
                  <a:schemeClr val="bg1"/>
                </a:solidFill>
              </a:rPr>
              <a:t>Kỹ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năng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tự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đánh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giá</a:t>
            </a:r>
            <a:r>
              <a:rPr sz="1400" dirty="0">
                <a:solidFill>
                  <a:schemeClr val="bg1"/>
                </a:solidFill>
              </a:rPr>
              <a:t>, </a:t>
            </a:r>
            <a:r>
              <a:rPr sz="1400" dirty="0" err="1">
                <a:solidFill>
                  <a:schemeClr val="bg1"/>
                </a:solidFill>
              </a:rPr>
              <a:t>đo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lường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kết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quả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bằng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số</a:t>
            </a:r>
            <a:r>
              <a:rPr sz="1400" dirty="0">
                <a:solidFill>
                  <a:schemeClr val="bg1"/>
                </a:solidFill>
              </a:rPr>
              <a:t> </a:t>
            </a:r>
            <a:r>
              <a:rPr sz="1400" dirty="0" err="1">
                <a:solidFill>
                  <a:schemeClr val="bg1"/>
                </a:solidFill>
              </a:rPr>
              <a:t>liệu</a:t>
            </a:r>
            <a:endParaRPr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71599" y="2926080"/>
            <a:ext cx="9731829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defRPr sz="4000" b="1">
                <a:solidFill>
                  <a:srgbClr val="EDF0F5"/>
                </a:solidFill>
                <a:latin typeface="Segoe UI"/>
              </a:defRPr>
            </a:pPr>
            <a:r>
              <a:rPr lang="vi-VN" dirty="0"/>
              <a:t>CẢM ƠN MỌI NGƯỜI ĐÃ LẮNG NGHE</a:t>
            </a:r>
            <a:r>
              <a:rPr lang="en-US" dirty="0"/>
              <a:t>!</a:t>
            </a:r>
            <a:endParaRPr lang="vi-V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7F3AE1-909C-268C-09A5-6D280F8BC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76787" cy="15012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</TotalTime>
  <Words>1654</Words>
  <Application>Microsoft Office PowerPoint</Application>
  <PresentationFormat>Widescreen</PresentationFormat>
  <Paragraphs>161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Nguyễn Trần Thu Thảo 23020772</cp:lastModifiedBy>
  <cp:revision>3</cp:revision>
  <dcterms:created xsi:type="dcterms:W3CDTF">2013-01-27T09:14:16Z</dcterms:created>
  <dcterms:modified xsi:type="dcterms:W3CDTF">2026-08-28T08:36:10Z</dcterms:modified>
  <cp:category/>
</cp:coreProperties>
</file>